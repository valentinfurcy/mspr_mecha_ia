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JetBrains Mono" panose="02000009000000000000" pitchFamily="49" charset="0"/>
      <p:regular r:id="rId24"/>
      <p:bold r:id="rId2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Présentation de l’équipe et du sujet. Annoncer le fil : le besoin de MECHA, les données, l’architecture, les modèles et leur validation, l’exploitation par les métiers, puis le déploiement et les limites. Préciser d’emblée que les données sont synthétiques (exigence du cahier des charges).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Le contexte vient du cahier des charges et de l’entretien client simulé (doc 01). Insister sur les deux critères chiffrés : ils servent de fil rouge à toute la validation. Fenêtre d’anticipation attendue : 24 à 72 h. La contrainte « pas d’usage RH » justifiera plus tard l’exclusion de l’ERP.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Les cinq étapes reprennent l’ordre des compétences du Bloc 2. Le bandeau du bas résume ce qui est réellement livré : tout ce qui est présenté ensuite est exécutable depuis le dépôt.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15. Compétence : analyser le corpus et choisir l’ETL. Une seule source alimente le prototype ; la GMAO est indispensable à terme pour de vrais labels de panne. L’exclusion de l’ERP n’est pas qu’un choix technique : c’est l’application de la minimisation RGPD et de l’engagement de non-usage RH. Sur les 10 capteurs : sur nos données simulées, le critère statistique (variance, corrélation) ne discrimine pas ; c’est une convention à re-justifier sur données réelles (question probable du jury).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Les données capteurs ne sont pas personnelles ; ce qui l’est : les matricules d’intervenants (GMAO) et les utilisateurs tracés par SCADA/MES. Le tableau DIC est volontairement honnête : la colonne de droite liste ce qui manque avant une mise en production, les deux points critiques étant les secrets dans le code et les ports de la base exposés sur l’hôte.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15. Compétence : structurer les données et construire des sous-groupes. Les trois niveaux de risque sont les sous-groupes ; leurs bornes 8 h et 24 h sont des seuils métier (8 h ≈ un poste et demi, 24 h = une journée), à valider sur le terrain. La classe « à risque » est rare (5 %) : c’est ce qui motivera le réglage du seuil de décision. Limite assumée : pas de valeurs manquantes ni d’historique de maintenance simulés.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15. Compétence : modéliser l’architecture de données. Suivre le flux de haut en bas : acquisition, stockage brut (InfluxDB, base temporelle), traitement, exposition par l’API, stockage exploitable (PostgreSQL, un schéma par usine), restitution. Choix justifiés au doc 03 : InfluxDB pour la compression et la rétention du brut, PostgreSQL comme source unique des dashboards, tout en open source et conteneurisable. MLflow est la cible pour le suivi des modèles.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Compétences : évaluer l’adéquation des modèles et concevoir le modèle. On compare du plus simple au plus complexe : linéaire, arbre, bagging, boosting, voisins. Critère : le rappel sur la classe critique, parce qu’une panne ratée coûte plus qu’une fausse alerte. La Logistic Regression gagne grâce à la pondération des classes et reste interprétable (coefficients lisibles, utile pour l’audit qualité aéronautique). Pour le RUL, la dégradation est non linéaire : les arbres l’emportent, Random Forest en tête. Deux familles pour deux tâches, c’est cohérent.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15. Compétence : définir la phase de test et de validation. Un KFold ligne à ligne mettrait le début de vie d’une machine en apprentissage et sa fin de vie en test : le modèle aurait déjà vu la machine, le score serait gonflé. On regarde la moyenne, l’écart-type et le pire fold. C’est la validation croisée qui a sélectionné les modèles. Elle révèle aussi que le rappel est trop bas : transition vers le slide suivant.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Par défaut un classifieur retient la classe la plus probable ; pour une classe rare (5 %) il sous-détecte. Le taux de faux positifs (4 %) laissait une marge par rapport aux 15 % tolérés : on l’a utilisée. Protocole sans fuite : probabilités out-of-fold sur les seules machines d’apprentissage, balayage de 0,05 à 0,95, seuil le plus élevé qui tient les deux critères. Sur les folds, le rappel vaut 0,83 ± 0,08 (pire fold 0,69) : le critère n’est pas garanti sur chaque sous-ensemble de machines. Les 2 fausses alertes sur 3 sont acceptables car les alertes terrain sont décidées par le RUL (slide 12) ; le classifieur sert de second avis tracé. La même règle est appliquée par le pipeline (src/decision.py).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15. Compétence : définir une procédure d’entraînement (lot, mini-lot, online). On compare le même modèle : SGDClassifier avec la perte logistique est l’équivalent incrémental exact. Hors lot, deux contraintes : les poids de classes et le scaler doivent être calculés une fois puis figés. L’online est écarté : une passe ne suffit pas et le résultat dépend de l’ordre d’arrivée, inacceptable pour une décision auditable. Le mini-lot est instable d’une époque à l’autre car chaque paquet ne contient qu’une douzaine d’exemples « à risque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15. Le pipeline lit InfluxDB, nettoie, prédit et poste à l’API ; l’API est le seul point d’écriture et applique les règles ; Grafana lit PostgreSQL en lecture seule, donc les dashboards restent consultables si l’API tombe. Pourquoi le RUL décide des alertes et pas la classe : les deux modèles sont indépendants et se contredisent sur ~20 % des lignes ; une alerte « à risque » à côté d’un RUL de 20 h serait incompréhensible en atelier. Le seuil critique de 4 h correspond à un poste. Exemple de requête à montrer si le jury le demande : doc 03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Si possible, faire ici une démonstration en direct du dashboard Grafana « Maintenance prédictive » (sélecteur de site en haut). Le capteur principal est le capteur le plus éloigné de son comportement moyen (score-Z) : il dit au technicien où regarder en premier. Rappeler que l’outil aide à décider mais ne pilote rien : la décision reste humaine.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Compétence : maquetter l’infrastructure. Une seule commande lance la stack (docker compose avec l’override de développement). Les images publiées par la CI permettent de lancer la solution sans la reconstruire. Le test de bout en bout a été fait sous Docker en suivant le README, sur le site site_fr1 : les chiffres affichés en sont issus. Les mesures de sécurité restant à faire sont sur le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Le déploiement suit les contraintes industrielles : installation en heures creuses, aucune modification des SCADA/MES existants, plateforme IA côté réseau IT et capteurs côté OT, séparés par un pare-feu. Le principal risque est humain : le rejet par les équipes terrain si l’outil est perçu comme un contrôle. D’où les techniciens volontaires comme ambassadeurs dès le pilote.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Montrer qu’on connaît les limites avant que le jury ne les pointe. Sur l’écart entre l’erreur du RUL et le seuil critique : une alerte critique signale une machine probablement proche de la panne, pas une échéance exacte ; c’est écrit dans le guide utilisateur. La première étape après la MSPR est un POC sur données réelles anonymisées d’un site, décidé lors de l’entretien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Reprendre les trois messages et rappeler que les chiffres viennent de données synthétiques : ils valident la démarche, le pilote sur données réelles validera la performance. Questions probables du jury : pourquoi la Logistic Regression plutôt que XGBoost ; pourquoi les alertes suivent le RUL et non le classifieur ; comment le seuil 0,35 a été choisi sans fuite ; pourquoi 8 h et 24 h ; ce qui change avec des données réelles (labels GMAO, valeurs manquantes, rôle du DPO).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97"/>
            <a:ext cx="10566400" cy="419100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97"/>
            <a:ext cx="10566400" cy="419100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892B"/>
          </a:solidFill>
          <a:ln/>
        </p:spPr>
      </p:sp>
      <p:sp>
        <p:nvSpPr>
          <p:cNvPr id="3" name="Text 1"/>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E8892B"/>
                </a:solidFill>
                <a:latin typeface="IBM Plex Sans" pitchFamily="34" charset="0"/>
                <a:ea typeface="IBM Plex Sans" pitchFamily="34" charset="-122"/>
                <a:cs typeface="IBM Plex Sans" pitchFamily="34" charset="-120"/>
              </a:rPr>
              <a:t>MSPR TPRE822 · BLOC 2 — CONCEVOIR UNE SOLUTION IA</a:t>
            </a:r>
            <a:endParaRPr lang="en-US" sz="1400" dirty="0"/>
          </a:p>
        </p:txBody>
      </p:sp>
      <p:sp>
        <p:nvSpPr>
          <p:cNvPr id="4" name="Text 2"/>
          <p:cNvSpPr/>
          <p:nvPr>
            <p:ph type="title"/>
          </p:nvPr>
        </p:nvSpPr>
        <p:spPr>
          <a:xfrm>
            <a:off x="812800" y="2278380"/>
            <a:ext cx="10883392" cy="141224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6F5F1"/>
                </a:solidFill>
                <a:latin typeface="IBM Plex Sans" pitchFamily="34" charset="0"/>
                <a:ea typeface="IBM Plex Sans" pitchFamily="34" charset="-122"/>
                <a:cs typeface="IBM Plex Sans" pitchFamily="34" charset="-120"/>
              </a:rPr>
              <a:t>Maintenance prédictive</a:t>
            </a:r>
            <a:endParaRPr lang="en-US" sz="5200" dirty="0"/>
          </a:p>
          <a:p>
            <a:pPr algn="l" indent="0" marL="0">
              <a:lnSpc>
                <a:spcPts val="5460"/>
              </a:lnSpc>
              <a:buNone/>
            </a:pPr>
            <a:r>
              <a:rPr lang="en-US" sz="5200" b="1" i="0" dirty="0">
                <a:solidFill>
                  <a:srgbClr val="F6F5F1"/>
                </a:solidFill>
                <a:latin typeface="IBM Plex Sans" pitchFamily="34" charset="0"/>
                <a:ea typeface="IBM Plex Sans" pitchFamily="34" charset="-122"/>
                <a:cs typeface="IBM Plex Sans" pitchFamily="34" charset="-120"/>
              </a:rPr>
              <a:t>pour les usines MECHA</a:t>
            </a:r>
            <a:endParaRPr lang="en-US" sz="5200" dirty="0"/>
          </a:p>
        </p:txBody>
      </p:sp>
      <p:sp>
        <p:nvSpPr>
          <p:cNvPr id="5" name="Text 3"/>
          <p:cNvSpPr/>
          <p:nvPr/>
        </p:nvSpPr>
        <p:spPr>
          <a:xfrm>
            <a:off x="812800" y="3919220"/>
            <a:ext cx="91567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8C2D6"/>
                </a:solidFill>
                <a:latin typeface="IBM Plex Sans" pitchFamily="34" charset="0"/>
                <a:ea typeface="IBM Plex Sans" pitchFamily="34" charset="-122"/>
                <a:cs typeface="IBM Plex Sans" pitchFamily="34" charset="-120"/>
              </a:rPr>
              <a:t>Du capteur à l’alerte : un prototype qui anticipe les pannes des centres d’usinage</a:t>
            </a:r>
            <a:endParaRPr lang="en-US" sz="2000" dirty="0"/>
          </a:p>
        </p:txBody>
      </p:sp>
      <p:sp>
        <p:nvSpPr>
          <p:cNvPr id="6" name="Text 4"/>
          <p:cNvSpPr/>
          <p:nvPr/>
        </p:nvSpPr>
        <p:spPr>
          <a:xfrm>
            <a:off x="812800" y="5796280"/>
            <a:ext cx="614730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2D6"/>
                </a:solidFill>
                <a:latin typeface="IBM Plex Sans" pitchFamily="34" charset="0"/>
                <a:ea typeface="IBM Plex Sans" pitchFamily="34" charset="-122"/>
                <a:cs typeface="IBM Plex Sans" pitchFamily="34" charset="-120"/>
              </a:rPr>
              <a:t>[Prénom NOM] · [Prénom NOM] · [Prénom NOM] · [Prénom NOM]</a:t>
            </a:r>
            <a:endParaRPr lang="en-US" sz="1400" dirty="0"/>
          </a:p>
        </p:txBody>
      </p:sp>
      <p:sp>
        <p:nvSpPr>
          <p:cNvPr id="7" name="Text 5"/>
          <p:cNvSpPr/>
          <p:nvPr/>
        </p:nvSpPr>
        <p:spPr>
          <a:xfrm>
            <a:off x="9728073" y="5796280"/>
            <a:ext cx="1651127"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B8C2D6"/>
                </a:solidFill>
                <a:latin typeface="IBM Plex Sans" pitchFamily="34" charset="0"/>
                <a:ea typeface="IBM Plex Sans" pitchFamily="34" charset="-122"/>
                <a:cs typeface="IBM Plex Sans" pitchFamily="34" charset="-120"/>
              </a:rPr>
              <a:t>[Campus] ·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80F"/>
                </a:solidFill>
                <a:latin typeface="IBM Plex Sans" pitchFamily="34" charset="0"/>
                <a:ea typeface="IBM Plex Sans" pitchFamily="34" charset="-122"/>
                <a:cs typeface="IBM Plex Sans" pitchFamily="34" charset="-120"/>
              </a:rPr>
              <a:t>01 · LE BESOIN</a:t>
            </a:r>
            <a:endParaRPr lang="en-US" sz="1200" dirty="0"/>
          </a:p>
        </p:txBody>
      </p:sp>
      <p:sp>
        <p:nvSpPr>
          <p:cNvPr id="3" name="Text 1"/>
          <p:cNvSpPr/>
          <p:nvPr>
            <p:ph type="title"/>
          </p:nvPr>
        </p:nvSpPr>
        <p:spPr>
          <a:xfrm>
            <a:off x="812800" y="1102360"/>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Anticiper les pannes sans noyer les équipes sous les alertes</a:t>
            </a:r>
            <a:endParaRPr lang="en-US" sz="3200" dirty="0"/>
          </a:p>
        </p:txBody>
      </p:sp>
      <p:sp>
        <p:nvSpPr>
          <p:cNvPr id="4" name="Text 2"/>
          <p:cNvSpPr/>
          <p:nvPr/>
        </p:nvSpPr>
        <p:spPr>
          <a:xfrm>
            <a:off x="812800" y="2301240"/>
            <a:ext cx="586028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Ce que vit MECHA</a:t>
            </a:r>
            <a:endParaRPr lang="en-US" sz="1800" dirty="0"/>
          </a:p>
        </p:txBody>
      </p:sp>
      <p:sp>
        <p:nvSpPr>
          <p:cNvPr id="5" name="Text 3"/>
          <p:cNvSpPr/>
          <p:nvPr/>
        </p:nvSpPr>
        <p:spPr>
          <a:xfrm>
            <a:off x="883920" y="2727960"/>
            <a:ext cx="5781548" cy="1958975"/>
          </a:xfrm>
          <a:prstGeom prst="rect">
            <a:avLst/>
          </a:prstGeom>
          <a:noFill/>
          <a:ln/>
        </p:spPr>
        <p:txBody>
          <a:bodyPr wrap="square" lIns="0" tIns="0" rIns="0" bIns="0" rtlCol="0" anchor="t">
            <a:normAutofit/>
          </a:bodyPr>
          <a:lstStyle/>
          <a:p>
            <a:pPr algn="l" marL="182880" indent="-182880">
              <a:lnSpc>
                <a:spcPts val="2175"/>
              </a:lnSpc>
              <a:buSzPct val="100000"/>
              <a:buChar char="•"/>
            </a:pPr>
            <a:r>
              <a:rPr lang="en-US" sz="1500" dirty="0">
                <a:solidFill>
                  <a:srgbClr val="3B4556"/>
                </a:solidFill>
                <a:latin typeface="IBM Plex Sans" pitchFamily="34" charset="0"/>
                <a:ea typeface="IBM Plex Sans" pitchFamily="34" charset="-122"/>
                <a:cs typeface="IBM Plex Sans" pitchFamily="34" charset="-120"/>
              </a:rPr>
              <a:t>5 usines (3 en France, 2 en Espagne), équipées de capteurs IoT de façon hétérogène</a:t>
            </a:r>
            <a:endParaRPr lang="en-US" sz="1500" dirty="0"/>
          </a:p>
          <a:p>
            <a:pPr algn="l" marL="182880" indent="-182880">
              <a:lnSpc>
                <a:spcPts val="2175"/>
              </a:lnSpc>
              <a:buSzPct val="100000"/>
              <a:buChar char="•"/>
            </a:pPr>
            <a:r>
              <a:rPr lang="en-US" sz="1500" dirty="0">
                <a:solidFill>
                  <a:srgbClr val="3B4556"/>
                </a:solidFill>
                <a:latin typeface="IBM Plex Sans" pitchFamily="34" charset="0"/>
                <a:ea typeface="IBM Plex Sans" pitchFamily="34" charset="-122"/>
                <a:cs typeface="IBM Plex Sans" pitchFamily="34" charset="-120"/>
              </a:rPr>
              <a:t>Pièces critiques pour l’aéronautique et l’automobile : tolérance au défaut très faible</a:t>
            </a:r>
            <a:endParaRPr lang="en-US" sz="1500" dirty="0"/>
          </a:p>
          <a:p>
            <a:pPr algn="l" marL="182880" indent="-182880">
              <a:lnSpc>
                <a:spcPts val="2175"/>
              </a:lnSpc>
              <a:buSzPct val="100000"/>
              <a:buChar char="•"/>
            </a:pPr>
            <a:r>
              <a:rPr lang="en-US" sz="1500" dirty="0">
                <a:solidFill>
                  <a:srgbClr val="3B4556"/>
                </a:solidFill>
                <a:latin typeface="IBM Plex Sans" pitchFamily="34" charset="0"/>
                <a:ea typeface="IBM Plex Sans" pitchFamily="34" charset="-122"/>
                <a:cs typeface="IBM Plex Sans" pitchFamily="34" charset="-120"/>
              </a:rPr>
              <a:t>Arrêts non planifiés coûteux, maintenance encore largement réactive</a:t>
            </a:r>
            <a:endParaRPr lang="en-US" sz="1500" dirty="0"/>
          </a:p>
          <a:p>
            <a:pPr algn="l" marL="182880" indent="-182880">
              <a:lnSpc>
                <a:spcPts val="2175"/>
              </a:lnSpc>
              <a:buSzPct val="100000"/>
              <a:buChar char="•"/>
            </a:pPr>
            <a:r>
              <a:rPr lang="en-US" sz="1500" dirty="0">
                <a:solidFill>
                  <a:srgbClr val="3B4556"/>
                </a:solidFill>
                <a:latin typeface="IBM Plex Sans" pitchFamily="34" charset="0"/>
                <a:ea typeface="IBM Plex Sans" pitchFamily="34" charset="-122"/>
                <a:cs typeface="IBM Plex Sans" pitchFamily="34" charset="-120"/>
              </a:rPr>
              <a:t>Refus explicite de tout usage RH des données</a:t>
            </a:r>
            <a:endParaRPr lang="en-US" sz="1500" dirty="0"/>
          </a:p>
        </p:txBody>
      </p:sp>
      <p:sp>
        <p:nvSpPr>
          <p:cNvPr id="6" name="Text 4"/>
          <p:cNvSpPr/>
          <p:nvPr/>
        </p:nvSpPr>
        <p:spPr>
          <a:xfrm>
            <a:off x="6807200" y="2301240"/>
            <a:ext cx="47091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Critères fixés par le client</a:t>
            </a:r>
            <a:endParaRPr lang="en-US" sz="1800" dirty="0"/>
          </a:p>
        </p:txBody>
      </p:sp>
      <p:sp>
        <p:nvSpPr>
          <p:cNvPr id="7" name="Shape 5"/>
          <p:cNvSpPr/>
          <p:nvPr/>
        </p:nvSpPr>
        <p:spPr>
          <a:xfrm>
            <a:off x="6810375" y="2731135"/>
            <a:ext cx="4565650" cy="1277197"/>
          </a:xfrm>
          <a:prstGeom prst="roundRect">
            <a:avLst>
              <a:gd name="adj" fmla="val 7706"/>
            </a:avLst>
          </a:prstGeom>
          <a:solidFill>
            <a:srgbClr val="FDFCFA"/>
          </a:solidFill>
          <a:ln w="6350">
            <a:solidFill>
              <a:srgbClr val="E2DFD8"/>
            </a:solidFill>
            <a:prstDash val="solid"/>
          </a:ln>
        </p:spPr>
      </p:sp>
      <p:sp>
        <p:nvSpPr>
          <p:cNvPr id="8" name="Text 6"/>
          <p:cNvSpPr/>
          <p:nvPr/>
        </p:nvSpPr>
        <p:spPr>
          <a:xfrm>
            <a:off x="7014633" y="2935393"/>
            <a:ext cx="4281847"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B4580F"/>
                </a:solidFill>
                <a:latin typeface="JetBrains Mono" pitchFamily="49" charset="0"/>
                <a:ea typeface="JetBrains Mono" pitchFamily="49" charset="-122"/>
                <a:cs typeface="JetBrains Mono" pitchFamily="49" charset="-120"/>
              </a:rPr>
              <a:t>≥ 80 %</a:t>
            </a:r>
            <a:endParaRPr lang="en-US" sz="3200" dirty="0"/>
          </a:p>
        </p:txBody>
      </p:sp>
      <p:sp>
        <p:nvSpPr>
          <p:cNvPr id="9" name="Text 7"/>
          <p:cNvSpPr/>
          <p:nvPr/>
        </p:nvSpPr>
        <p:spPr>
          <a:xfrm>
            <a:off x="7014633" y="3555154"/>
            <a:ext cx="428184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556"/>
                </a:solidFill>
                <a:latin typeface="IBM Plex Sans" pitchFamily="34" charset="0"/>
                <a:ea typeface="IBM Plex Sans" pitchFamily="34" charset="-122"/>
                <a:cs typeface="IBM Plex Sans" pitchFamily="34" charset="-120"/>
              </a:rPr>
              <a:t>des pannes détectées (rappel)</a:t>
            </a:r>
            <a:endParaRPr lang="en-US" sz="1400" dirty="0"/>
          </a:p>
        </p:txBody>
      </p:sp>
      <p:sp>
        <p:nvSpPr>
          <p:cNvPr id="10" name="Shape 8"/>
          <p:cNvSpPr/>
          <p:nvPr/>
        </p:nvSpPr>
        <p:spPr>
          <a:xfrm>
            <a:off x="6810375" y="4167082"/>
            <a:ext cx="4565650" cy="1277197"/>
          </a:xfrm>
          <a:prstGeom prst="roundRect">
            <a:avLst>
              <a:gd name="adj" fmla="val 7706"/>
            </a:avLst>
          </a:prstGeom>
          <a:solidFill>
            <a:srgbClr val="FDFCFA"/>
          </a:solidFill>
          <a:ln w="6350">
            <a:solidFill>
              <a:srgbClr val="E2DFD8"/>
            </a:solidFill>
            <a:prstDash val="solid"/>
          </a:ln>
        </p:spPr>
      </p:sp>
      <p:sp>
        <p:nvSpPr>
          <p:cNvPr id="11" name="Text 9"/>
          <p:cNvSpPr/>
          <p:nvPr/>
        </p:nvSpPr>
        <p:spPr>
          <a:xfrm>
            <a:off x="7014633" y="4371340"/>
            <a:ext cx="4281847"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2F6FBF"/>
                </a:solidFill>
                <a:latin typeface="JetBrains Mono" pitchFamily="49" charset="0"/>
                <a:ea typeface="JetBrains Mono" pitchFamily="49" charset="-122"/>
                <a:cs typeface="JetBrains Mono" pitchFamily="49" charset="-120"/>
              </a:rPr>
              <a:t>&lt; 15 %</a:t>
            </a:r>
            <a:endParaRPr lang="en-US" sz="3200" dirty="0"/>
          </a:p>
        </p:txBody>
      </p:sp>
      <p:sp>
        <p:nvSpPr>
          <p:cNvPr id="12" name="Text 10"/>
          <p:cNvSpPr/>
          <p:nvPr/>
        </p:nvSpPr>
        <p:spPr>
          <a:xfrm>
            <a:off x="7014633" y="4991100"/>
            <a:ext cx="428184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B4556"/>
                </a:solidFill>
                <a:latin typeface="IBM Plex Sans" pitchFamily="34" charset="0"/>
                <a:ea typeface="IBM Plex Sans" pitchFamily="34" charset="-122"/>
                <a:cs typeface="IBM Plex Sans" pitchFamily="34" charset="-120"/>
              </a:rPr>
              <a:t>de faux positifs</a:t>
            </a:r>
            <a:endParaRPr lang="en-US" sz="1400" dirty="0"/>
          </a:p>
        </p:txBody>
      </p:sp>
      <p:sp>
        <p:nvSpPr>
          <p:cNvPr id="13" name="Text 11"/>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MECHA IA — Soutenance MSPR TPRE822</a:t>
            </a:r>
            <a:endParaRPr lang="en-US" sz="1200" dirty="0"/>
          </a:p>
        </p:txBody>
      </p:sp>
      <p:sp>
        <p:nvSpPr>
          <p:cNvPr id="14" name="Text 1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2 / 17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80F"/>
                </a:solidFill>
                <a:latin typeface="IBM Plex Sans" pitchFamily="34" charset="0"/>
                <a:ea typeface="IBM Plex Sans" pitchFamily="34" charset="-122"/>
                <a:cs typeface="IBM Plex Sans" pitchFamily="34" charset="-120"/>
              </a:rPr>
              <a:t>02 · LA DÉMARCHE</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De la donnée brute à l’écran du technicien</a:t>
            </a:r>
            <a:endParaRPr lang="en-US" sz="3200" dirty="0"/>
          </a:p>
        </p:txBody>
      </p:sp>
      <p:sp>
        <p:nvSpPr>
          <p:cNvPr id="4" name="Shape 2"/>
          <p:cNvSpPr/>
          <p:nvPr/>
        </p:nvSpPr>
        <p:spPr>
          <a:xfrm>
            <a:off x="815975" y="1857375"/>
            <a:ext cx="1985010" cy="1813137"/>
          </a:xfrm>
          <a:prstGeom prst="roundRect">
            <a:avLst>
              <a:gd name="adj" fmla="val 5428"/>
            </a:avLst>
          </a:prstGeom>
          <a:solidFill>
            <a:srgbClr val="FDFCFA"/>
          </a:solidFill>
          <a:ln w="6350">
            <a:solidFill>
              <a:srgbClr val="E2DFD8"/>
            </a:solidFill>
            <a:prstDash val="solid"/>
          </a:ln>
        </p:spPr>
      </p:sp>
      <p:sp>
        <p:nvSpPr>
          <p:cNvPr id="5" name="Text 3"/>
          <p:cNvSpPr/>
          <p:nvPr/>
        </p:nvSpPr>
        <p:spPr>
          <a:xfrm>
            <a:off x="994833" y="2036234"/>
            <a:ext cx="167809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4580F"/>
                </a:solidFill>
                <a:latin typeface="JetBrains Mono" pitchFamily="49" charset="0"/>
                <a:ea typeface="JetBrains Mono" pitchFamily="49" charset="-122"/>
                <a:cs typeface="JetBrains Mono" pitchFamily="49" charset="-120"/>
              </a:rPr>
              <a:t>1</a:t>
            </a:r>
            <a:endParaRPr lang="en-US" sz="1600" dirty="0"/>
          </a:p>
        </p:txBody>
      </p:sp>
      <p:sp>
        <p:nvSpPr>
          <p:cNvPr id="6" name="Text 4"/>
          <p:cNvSpPr/>
          <p:nvPr/>
        </p:nvSpPr>
        <p:spPr>
          <a:xfrm>
            <a:off x="994833" y="2422313"/>
            <a:ext cx="167809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Données</a:t>
            </a:r>
            <a:endParaRPr lang="en-US" sz="1800" dirty="0"/>
          </a:p>
        </p:txBody>
      </p:sp>
      <p:sp>
        <p:nvSpPr>
          <p:cNvPr id="7" name="Text 5"/>
          <p:cNvSpPr/>
          <p:nvPr/>
        </p:nvSpPr>
        <p:spPr>
          <a:xfrm>
            <a:off x="994833" y="2798234"/>
            <a:ext cx="167809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Cartographie, RGPD, nettoyage par machine</a:t>
            </a:r>
            <a:endParaRPr lang="en-US" sz="1300" dirty="0"/>
          </a:p>
        </p:txBody>
      </p:sp>
      <p:sp>
        <p:nvSpPr>
          <p:cNvPr id="8" name="Shape 6"/>
          <p:cNvSpPr/>
          <p:nvPr/>
        </p:nvSpPr>
        <p:spPr>
          <a:xfrm>
            <a:off x="2959735" y="1857375"/>
            <a:ext cx="1985010" cy="1813137"/>
          </a:xfrm>
          <a:prstGeom prst="roundRect">
            <a:avLst>
              <a:gd name="adj" fmla="val 5428"/>
            </a:avLst>
          </a:prstGeom>
          <a:solidFill>
            <a:srgbClr val="FDFCFA"/>
          </a:solidFill>
          <a:ln w="6350">
            <a:solidFill>
              <a:srgbClr val="E2DFD8"/>
            </a:solidFill>
            <a:prstDash val="solid"/>
          </a:ln>
        </p:spPr>
      </p:sp>
      <p:sp>
        <p:nvSpPr>
          <p:cNvPr id="9" name="Text 7"/>
          <p:cNvSpPr/>
          <p:nvPr/>
        </p:nvSpPr>
        <p:spPr>
          <a:xfrm>
            <a:off x="3138593" y="2036234"/>
            <a:ext cx="167809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4580F"/>
                </a:solidFill>
                <a:latin typeface="JetBrains Mono" pitchFamily="49" charset="0"/>
                <a:ea typeface="JetBrains Mono" pitchFamily="49" charset="-122"/>
                <a:cs typeface="JetBrains Mono" pitchFamily="49" charset="-120"/>
              </a:rPr>
              <a:t>2</a:t>
            </a:r>
            <a:endParaRPr lang="en-US" sz="1600" dirty="0"/>
          </a:p>
        </p:txBody>
      </p:sp>
      <p:sp>
        <p:nvSpPr>
          <p:cNvPr id="10" name="Text 8"/>
          <p:cNvSpPr/>
          <p:nvPr/>
        </p:nvSpPr>
        <p:spPr>
          <a:xfrm>
            <a:off x="3138593" y="2422313"/>
            <a:ext cx="167809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Modèles</a:t>
            </a:r>
            <a:endParaRPr lang="en-US" sz="1800" dirty="0"/>
          </a:p>
        </p:txBody>
      </p:sp>
      <p:sp>
        <p:nvSpPr>
          <p:cNvPr id="11" name="Text 9"/>
          <p:cNvSpPr/>
          <p:nvPr/>
        </p:nvSpPr>
        <p:spPr>
          <a:xfrm>
            <a:off x="3138593" y="2798234"/>
            <a:ext cx="167809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11 modèles comparés sur la métrique métier</a:t>
            </a:r>
            <a:endParaRPr lang="en-US" sz="1300" dirty="0"/>
          </a:p>
        </p:txBody>
      </p:sp>
      <p:sp>
        <p:nvSpPr>
          <p:cNvPr id="12" name="Shape 10"/>
          <p:cNvSpPr/>
          <p:nvPr/>
        </p:nvSpPr>
        <p:spPr>
          <a:xfrm>
            <a:off x="5103495" y="1857375"/>
            <a:ext cx="1985010" cy="1813137"/>
          </a:xfrm>
          <a:prstGeom prst="roundRect">
            <a:avLst>
              <a:gd name="adj" fmla="val 5428"/>
            </a:avLst>
          </a:prstGeom>
          <a:solidFill>
            <a:srgbClr val="FDFCFA"/>
          </a:solidFill>
          <a:ln w="6350">
            <a:solidFill>
              <a:srgbClr val="E2DFD8"/>
            </a:solidFill>
            <a:prstDash val="solid"/>
          </a:ln>
        </p:spPr>
      </p:sp>
      <p:sp>
        <p:nvSpPr>
          <p:cNvPr id="13" name="Text 11"/>
          <p:cNvSpPr/>
          <p:nvPr/>
        </p:nvSpPr>
        <p:spPr>
          <a:xfrm>
            <a:off x="5282354" y="2036234"/>
            <a:ext cx="167809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4580F"/>
                </a:solidFill>
                <a:latin typeface="JetBrains Mono" pitchFamily="49" charset="0"/>
                <a:ea typeface="JetBrains Mono" pitchFamily="49" charset="-122"/>
                <a:cs typeface="JetBrains Mono" pitchFamily="49" charset="-120"/>
              </a:rPr>
              <a:t>3</a:t>
            </a:r>
            <a:endParaRPr lang="en-US" sz="1600" dirty="0"/>
          </a:p>
        </p:txBody>
      </p:sp>
      <p:sp>
        <p:nvSpPr>
          <p:cNvPr id="14" name="Text 12"/>
          <p:cNvSpPr/>
          <p:nvPr/>
        </p:nvSpPr>
        <p:spPr>
          <a:xfrm>
            <a:off x="5282354" y="2422313"/>
            <a:ext cx="167809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Validation</a:t>
            </a:r>
            <a:endParaRPr lang="en-US" sz="1800" dirty="0"/>
          </a:p>
        </p:txBody>
      </p:sp>
      <p:sp>
        <p:nvSpPr>
          <p:cNvPr id="15" name="Text 13"/>
          <p:cNvSpPr/>
          <p:nvPr/>
        </p:nvSpPr>
        <p:spPr>
          <a:xfrm>
            <a:off x="5282354" y="2798234"/>
            <a:ext cx="167809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Validation croisée par machine, critères du client</a:t>
            </a:r>
            <a:endParaRPr lang="en-US" sz="1300" dirty="0"/>
          </a:p>
        </p:txBody>
      </p:sp>
      <p:sp>
        <p:nvSpPr>
          <p:cNvPr id="16" name="Shape 14"/>
          <p:cNvSpPr/>
          <p:nvPr/>
        </p:nvSpPr>
        <p:spPr>
          <a:xfrm>
            <a:off x="7247255" y="1857375"/>
            <a:ext cx="1985010" cy="1813137"/>
          </a:xfrm>
          <a:prstGeom prst="roundRect">
            <a:avLst>
              <a:gd name="adj" fmla="val 5428"/>
            </a:avLst>
          </a:prstGeom>
          <a:solidFill>
            <a:srgbClr val="FDFCFA"/>
          </a:solidFill>
          <a:ln w="6350">
            <a:solidFill>
              <a:srgbClr val="E2DFD8"/>
            </a:solidFill>
            <a:prstDash val="solid"/>
          </a:ln>
        </p:spPr>
      </p:sp>
      <p:sp>
        <p:nvSpPr>
          <p:cNvPr id="17" name="Text 15"/>
          <p:cNvSpPr/>
          <p:nvPr/>
        </p:nvSpPr>
        <p:spPr>
          <a:xfrm>
            <a:off x="7426113" y="2036234"/>
            <a:ext cx="167809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4580F"/>
                </a:solidFill>
                <a:latin typeface="JetBrains Mono" pitchFamily="49" charset="0"/>
                <a:ea typeface="JetBrains Mono" pitchFamily="49" charset="-122"/>
                <a:cs typeface="JetBrains Mono" pitchFamily="49" charset="-120"/>
              </a:rPr>
              <a:t>4</a:t>
            </a:r>
            <a:endParaRPr lang="en-US" sz="1600" dirty="0"/>
          </a:p>
        </p:txBody>
      </p:sp>
      <p:sp>
        <p:nvSpPr>
          <p:cNvPr id="18" name="Text 16"/>
          <p:cNvSpPr/>
          <p:nvPr/>
        </p:nvSpPr>
        <p:spPr>
          <a:xfrm>
            <a:off x="7426113" y="2422313"/>
            <a:ext cx="167809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Application</a:t>
            </a:r>
            <a:endParaRPr lang="en-US" sz="1800" dirty="0"/>
          </a:p>
        </p:txBody>
      </p:sp>
      <p:sp>
        <p:nvSpPr>
          <p:cNvPr id="19" name="Text 17"/>
          <p:cNvSpPr/>
          <p:nvPr/>
        </p:nvSpPr>
        <p:spPr>
          <a:xfrm>
            <a:off x="7426113" y="2798234"/>
            <a:ext cx="167809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API, règles d’alerte, dashboards Grafana</a:t>
            </a:r>
            <a:endParaRPr lang="en-US" sz="1300" dirty="0"/>
          </a:p>
        </p:txBody>
      </p:sp>
      <p:sp>
        <p:nvSpPr>
          <p:cNvPr id="20" name="Shape 18"/>
          <p:cNvSpPr/>
          <p:nvPr/>
        </p:nvSpPr>
        <p:spPr>
          <a:xfrm>
            <a:off x="9391015" y="1857375"/>
            <a:ext cx="1985010" cy="1813137"/>
          </a:xfrm>
          <a:prstGeom prst="roundRect">
            <a:avLst>
              <a:gd name="adj" fmla="val 5428"/>
            </a:avLst>
          </a:prstGeom>
          <a:solidFill>
            <a:srgbClr val="FDFCFA"/>
          </a:solidFill>
          <a:ln w="6350">
            <a:solidFill>
              <a:srgbClr val="E2DFD8"/>
            </a:solidFill>
            <a:prstDash val="solid"/>
          </a:ln>
        </p:spPr>
      </p:sp>
      <p:sp>
        <p:nvSpPr>
          <p:cNvPr id="21" name="Text 19"/>
          <p:cNvSpPr/>
          <p:nvPr/>
        </p:nvSpPr>
        <p:spPr>
          <a:xfrm>
            <a:off x="9569873" y="2036234"/>
            <a:ext cx="167809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4580F"/>
                </a:solidFill>
                <a:latin typeface="JetBrains Mono" pitchFamily="49" charset="0"/>
                <a:ea typeface="JetBrains Mono" pitchFamily="49" charset="-122"/>
                <a:cs typeface="JetBrains Mono" pitchFamily="49" charset="-120"/>
              </a:rPr>
              <a:t>5</a:t>
            </a:r>
            <a:endParaRPr lang="en-US" sz="1600" dirty="0"/>
          </a:p>
        </p:txBody>
      </p:sp>
      <p:sp>
        <p:nvSpPr>
          <p:cNvPr id="22" name="Text 20"/>
          <p:cNvSpPr/>
          <p:nvPr/>
        </p:nvSpPr>
        <p:spPr>
          <a:xfrm>
            <a:off x="9569873" y="2422313"/>
            <a:ext cx="167809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IBM Plex Sans" pitchFamily="34" charset="0"/>
                <a:ea typeface="IBM Plex Sans" pitchFamily="34" charset="-122"/>
                <a:cs typeface="IBM Plex Sans" pitchFamily="34" charset="-120"/>
              </a:rPr>
              <a:t>Déploiement</a:t>
            </a:r>
            <a:endParaRPr lang="en-US" sz="1800" dirty="0"/>
          </a:p>
        </p:txBody>
      </p:sp>
      <p:sp>
        <p:nvSpPr>
          <p:cNvPr id="23" name="Text 21"/>
          <p:cNvSpPr/>
          <p:nvPr/>
        </p:nvSpPr>
        <p:spPr>
          <a:xfrm>
            <a:off x="9569873" y="2798234"/>
            <a:ext cx="167809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Docker, CI, plan multi-sites</a:t>
            </a:r>
            <a:endParaRPr lang="en-US" sz="1300" dirty="0"/>
          </a:p>
        </p:txBody>
      </p:sp>
      <p:sp>
        <p:nvSpPr>
          <p:cNvPr id="24" name="Shape 22"/>
          <p:cNvSpPr/>
          <p:nvPr/>
        </p:nvSpPr>
        <p:spPr>
          <a:xfrm>
            <a:off x="812800" y="3978487"/>
            <a:ext cx="10566400" cy="711200"/>
          </a:xfrm>
          <a:prstGeom prst="roundRect">
            <a:avLst>
              <a:gd name="adj" fmla="val 14286"/>
            </a:avLst>
          </a:prstGeom>
          <a:solidFill>
            <a:srgbClr val="E9EEF6"/>
          </a:solidFill>
          <a:ln/>
        </p:spPr>
      </p:sp>
      <p:pic>
        <p:nvPicPr>
          <p:cNvPr id="25" name="Image 0" descr="CheckCircle">    </p:cNvPr>
          <p:cNvPicPr>
            <a:picLocks noChangeAspect="1"/>
          </p:cNvPicPr>
          <p:nvPr/>
        </p:nvPicPr>
        <p:blipFill>
          <a:blip r:embed="rId1"/>
          <a:srcRect l="0" r="0" t="0" b="0"/>
          <a:stretch/>
        </p:blipFill>
        <p:spPr>
          <a:xfrm>
            <a:off x="1016000" y="4181687"/>
            <a:ext cx="304800" cy="304800"/>
          </a:xfrm>
          <a:prstGeom prst="rect">
            <a:avLst/>
          </a:prstGeom>
        </p:spPr>
      </p:pic>
      <p:sp>
        <p:nvSpPr>
          <p:cNvPr id="26" name="Text 23"/>
          <p:cNvSpPr/>
          <p:nvPr/>
        </p:nvSpPr>
        <p:spPr>
          <a:xfrm>
            <a:off x="1473200" y="4200737"/>
            <a:ext cx="960081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Livré : code versionné sur Git, 51 tests, CI au vert, chaîne vérifiée de bout en bout sous Docker</a:t>
            </a:r>
            <a:endParaRPr lang="en-US" sz="1500" dirty="0"/>
          </a:p>
        </p:txBody>
      </p:sp>
      <p:sp>
        <p:nvSpPr>
          <p:cNvPr id="27" name="Text 24"/>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MECHA IA — Soutenance MSPR TPRE822</a:t>
            </a:r>
            <a:endParaRPr lang="en-US" sz="1200" dirty="0"/>
          </a:p>
        </p:txBody>
      </p:sp>
      <p:sp>
        <p:nvSpPr>
          <p:cNvPr id="28" name="Text 2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3 / 17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80F"/>
                </a:solidFill>
                <a:latin typeface="IBM Plex Sans" pitchFamily="34" charset="0"/>
                <a:ea typeface="IBM Plex Sans" pitchFamily="34" charset="-122"/>
                <a:cs typeface="IBM Plex Sans" pitchFamily="34" charset="-120"/>
              </a:rPr>
              <a:t>03 · CARTOGRAPHIE DES DONNÉES</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Réduire l’espace de l’IA à la source qui porte le signal</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900"/>
          <a:ext cx="6972300" cy="2156460"/>
        </p:xfrm>
        <a:graphic>
          <a:graphicData uri="http://schemas.openxmlformats.org/drawingml/2006/table">
            <a:tbl>
              <a:tblPr/>
              <a:tblGrid>
                <a:gridCol w="2091690"/>
                <a:gridCol w="1255014"/>
                <a:gridCol w="3625596"/>
              </a:tblGrid>
              <a:tr h="359410">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Source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Décision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Raison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Capteurs IoT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2F6FBF"/>
                          </a:solidFill>
                          <a:latin typeface="IBM Plex Sans" pitchFamily="34" charset="0"/>
                          <a:ea typeface="IBM Plex Sans" pitchFamily="34" charset="-122"/>
                          <a:cs typeface="IBM Plex Sans" pitchFamily="34" charset="-120"/>
                        </a:rPr>
                        <a:t>Retenue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Porte le signal de dégradation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GMAO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indent="0" marL="0">
                        <a:lnSpc>
                          <a:spcPts val="1820"/>
                        </a:lnSpc>
                        <a:buNone/>
                      </a:pPr>
                      <a:r>
                        <a:rPr lang="en-US" sz="1300" dirty="0">
                          <a:solidFill>
                            <a:srgbClr val="B4580F"/>
                          </a:solidFill>
                          <a:latin typeface="IBM Plex Sans" pitchFamily="34" charset="0"/>
                          <a:ea typeface="IBM Plex Sans" pitchFamily="34" charset="-122"/>
                          <a:cs typeface="IBM Plex Sans" pitchFamily="34" charset="-120"/>
                        </a:rPr>
                        <a:t>Cible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Vrais labels de panne, qualité insuffisante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SCADA / MES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B4580F"/>
                          </a:solidFill>
                          <a:latin typeface="IBM Plex Sans" pitchFamily="34" charset="0"/>
                          <a:ea typeface="IBM Plex Sans" pitchFamily="34" charset="-122"/>
                          <a:cs typeface="IBM Plex Sans" pitchFamily="34" charset="-120"/>
                        </a:rPr>
                        <a:t>Cible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Contexte de production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Contrôle qualité</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indent="0" marL="0">
                        <a:lnSpc>
                          <a:spcPts val="1820"/>
                        </a:lnSpc>
                        <a:buNone/>
                      </a:pPr>
                      <a:r>
                        <a:rPr lang="en-US" sz="1300" dirty="0">
                          <a:solidFill>
                            <a:srgbClr val="5F6775"/>
                          </a:solidFill>
                          <a:latin typeface="IBM Plex Sans" pitchFamily="34" charset="0"/>
                          <a:ea typeface="IBM Plex Sans" pitchFamily="34" charset="-122"/>
                          <a:cs typeface="IBM Plex Sans" pitchFamily="34" charset="-120"/>
                        </a:rPr>
                        <a:t>Écartée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Autre cas d’usage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ERP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5F6775"/>
                          </a:solidFill>
                          <a:latin typeface="IBM Plex Sans" pitchFamily="34" charset="0"/>
                          <a:ea typeface="IBM Plex Sans" pitchFamily="34" charset="-122"/>
                          <a:cs typeface="IBM Plex Sans" pitchFamily="34" charset="-120"/>
                        </a:rPr>
                        <a:t>Écartée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Hors finalité, données RH (minimisation)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Shape 2"/>
          <p:cNvSpPr/>
          <p:nvPr/>
        </p:nvSpPr>
        <p:spPr>
          <a:xfrm>
            <a:off x="8105775" y="1857375"/>
            <a:ext cx="3270250" cy="1419437"/>
          </a:xfrm>
          <a:prstGeom prst="roundRect">
            <a:avLst>
              <a:gd name="adj" fmla="val 6934"/>
            </a:avLst>
          </a:prstGeom>
          <a:solidFill>
            <a:srgbClr val="FDFCFA"/>
          </a:solidFill>
          <a:ln w="6350">
            <a:solidFill>
              <a:srgbClr val="E2DFD8"/>
            </a:solidFill>
            <a:prstDash val="solid"/>
          </a:ln>
        </p:spPr>
      </p:sp>
      <p:sp>
        <p:nvSpPr>
          <p:cNvPr id="6" name="Text 3"/>
          <p:cNvSpPr/>
          <p:nvPr/>
        </p:nvSpPr>
        <p:spPr>
          <a:xfrm>
            <a:off x="8310033" y="2061634"/>
            <a:ext cx="2947585"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4580F"/>
                </a:solidFill>
                <a:latin typeface="JetBrains Mono" pitchFamily="49" charset="0"/>
                <a:ea typeface="JetBrains Mono" pitchFamily="49" charset="-122"/>
                <a:cs typeface="JetBrains Mono" pitchFamily="49" charset="-120"/>
              </a:rPr>
              <a:t>21 → 10</a:t>
            </a:r>
            <a:endParaRPr lang="en-US" sz="2800" dirty="0"/>
          </a:p>
        </p:txBody>
      </p:sp>
      <p:sp>
        <p:nvSpPr>
          <p:cNvPr id="7" name="Text 4"/>
          <p:cNvSpPr/>
          <p:nvPr/>
        </p:nvSpPr>
        <p:spPr>
          <a:xfrm>
            <a:off x="8310033" y="2610273"/>
            <a:ext cx="294758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capteurs retenus, renommés au vocabulaire MECHA</a:t>
            </a:r>
            <a:endParaRPr lang="en-US" sz="1300" dirty="0"/>
          </a:p>
        </p:txBody>
      </p:sp>
      <p:sp>
        <p:nvSpPr>
          <p:cNvPr id="8" name="Shape 5"/>
          <p:cNvSpPr/>
          <p:nvPr/>
        </p:nvSpPr>
        <p:spPr>
          <a:xfrm>
            <a:off x="8105775" y="3435562"/>
            <a:ext cx="3270250" cy="1134957"/>
          </a:xfrm>
          <a:prstGeom prst="roundRect">
            <a:avLst>
              <a:gd name="adj" fmla="val 8672"/>
            </a:avLst>
          </a:prstGeom>
          <a:solidFill>
            <a:srgbClr val="FDFCFA"/>
          </a:solidFill>
          <a:ln w="6350">
            <a:solidFill>
              <a:srgbClr val="E2DFD8"/>
            </a:solidFill>
            <a:prstDash val="solid"/>
          </a:ln>
        </p:spPr>
      </p:sp>
      <p:sp>
        <p:nvSpPr>
          <p:cNvPr id="9" name="Text 6"/>
          <p:cNvSpPr/>
          <p:nvPr/>
        </p:nvSpPr>
        <p:spPr>
          <a:xfrm>
            <a:off x="8310033" y="3639820"/>
            <a:ext cx="294758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Chaîne ETL</a:t>
            </a:r>
            <a:endParaRPr lang="en-US" sz="1400" dirty="0"/>
          </a:p>
        </p:txBody>
      </p:sp>
      <p:sp>
        <p:nvSpPr>
          <p:cNvPr id="10" name="Text 7"/>
          <p:cNvSpPr/>
          <p:nvPr/>
        </p:nvSpPr>
        <p:spPr>
          <a:xfrm>
            <a:off x="8310033" y="3903980"/>
            <a:ext cx="2947585"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MQTT → Kafka (cible) → InfluxDB → Python / pandas → PostgreSQL</a:t>
            </a:r>
            <a:endParaRPr lang="en-US" sz="1300" dirty="0"/>
          </a:p>
        </p:txBody>
      </p:sp>
      <p:sp>
        <p:nvSpPr>
          <p:cNvPr id="11" name="Text 8"/>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MECHA IA — Soutenance MSPR TPRE822 · doc 02</a:t>
            </a:r>
            <a:endParaRPr lang="en-US" sz="1200" dirty="0"/>
          </a:p>
        </p:txBody>
      </p:sp>
      <p:sp>
        <p:nvSpPr>
          <p:cNvPr id="12" name="Text 9"/>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4 / 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80F"/>
                </a:solidFill>
                <a:latin typeface="IBM Plex Sans" pitchFamily="34" charset="0"/>
                <a:ea typeface="IBM Plex Sans" pitchFamily="34" charset="-122"/>
                <a:cs typeface="IBM Plex Sans" pitchFamily="34" charset="-120"/>
              </a:rPr>
              <a:t>04 · RGPD ET SÉCURITÉ DES DONNÉES</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Prêts pour des données réelles</a:t>
            </a:r>
            <a:endParaRPr lang="en-US" sz="3200" dirty="0"/>
          </a:p>
        </p:txBody>
      </p:sp>
      <p:sp>
        <p:nvSpPr>
          <p:cNvPr id="4" name="Text 2"/>
          <p:cNvSpPr/>
          <p:nvPr/>
        </p:nvSpPr>
        <p:spPr>
          <a:xfrm>
            <a:off x="812800" y="1854200"/>
            <a:ext cx="457835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RGPD, avec le DPO</a:t>
            </a:r>
            <a:endParaRPr lang="en-US" sz="1600" dirty="0"/>
          </a:p>
        </p:txBody>
      </p:sp>
      <p:sp>
        <p:nvSpPr>
          <p:cNvPr id="5" name="Text 3"/>
          <p:cNvSpPr/>
          <p:nvPr/>
        </p:nvSpPr>
        <p:spPr>
          <a:xfrm>
            <a:off x="898144" y="2225039"/>
            <a:ext cx="4485386" cy="2419350"/>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Prototype : aucune donnée personnelle (données synthétiques)</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Minimisation : les matricules n’entrent jamais dans le modèle</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Finalité maintenance uniquement, engagement de non-usage RH</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DPO : registre des traitements, AIPD recommandée avant industrialisation</a:t>
            </a:r>
            <a:endParaRPr lang="en-US" sz="1300" dirty="0"/>
          </a:p>
        </p:txBody>
      </p:sp>
      <p:sp>
        <p:nvSpPr>
          <p:cNvPr id="6" name="Text 4"/>
          <p:cNvSpPr/>
          <p:nvPr/>
        </p:nvSpPr>
        <p:spPr>
          <a:xfrm>
            <a:off x="5562600" y="1854200"/>
            <a:ext cx="599109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Disponibilité · Intégrité · Confidentialité</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575300" y="2237739"/>
          <a:ext cx="5803900" cy="2397760"/>
        </p:xfrm>
        <a:graphic>
          <a:graphicData uri="http://schemas.openxmlformats.org/drawingml/2006/table">
            <a:tbl>
              <a:tblPr/>
              <a:tblGrid>
                <a:gridCol w="1276858"/>
                <a:gridCol w="2437638"/>
                <a:gridCol w="2089404"/>
              </a:tblGrid>
              <a:tr h="332740">
                <a:tc>
                  <a:txBody>
                    <a:bodyPr/>
                    <a:lstStyle/>
                    <a:p>
                      <a:pPr indent="0" marL="0">
                        <a:lnSpc>
                          <a:spcPts val="1680"/>
                        </a:lnSpc>
                        <a:buNone/>
                      </a:pPr>
                      <a:r>
                        <a:rPr lang="en-US" sz="1200" b="1" dirty="0">
                          <a:solidFill>
                            <a:srgbClr val="F6F5F1"/>
                          </a:solidFill>
                          <a:latin typeface="IBM Plex Sans" pitchFamily="34" charset="0"/>
                          <a:ea typeface="IBM Plex Sans" pitchFamily="34" charset="-122"/>
                          <a:cs typeface="IBM Plex Sans" pitchFamily="34" charset="-120"/>
                        </a:rPr>
                        <a:t>Pilier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5F1"/>
                          </a:solidFill>
                          <a:latin typeface="IBM Plex Sans" pitchFamily="34" charset="0"/>
                          <a:ea typeface="IBM Plex Sans" pitchFamily="34" charset="-122"/>
                          <a:cs typeface="IBM Plex Sans" pitchFamily="34" charset="-120"/>
                        </a:rPr>
                        <a:t>En place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680"/>
                        </a:lnSpc>
                        <a:buNone/>
                      </a:pPr>
                      <a:r>
                        <a:rPr lang="en-US" sz="1200" b="1" dirty="0">
                          <a:solidFill>
                            <a:srgbClr val="F6F5F1"/>
                          </a:solidFill>
                          <a:latin typeface="IBM Plex Sans" pitchFamily="34" charset="0"/>
                          <a:ea typeface="IBM Plex Sans" pitchFamily="34" charset="-122"/>
                          <a:cs typeface="IBM Plex Sans" pitchFamily="34" charset="-120"/>
                        </a:rPr>
                        <a:t>Avant production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759460">
                <a:tc>
                  <a:txBody>
                    <a:bodyPr/>
                    <a:lstStyle/>
                    <a:p>
                      <a:pPr indent="0" marL="0">
                        <a:lnSpc>
                          <a:spcPts val="1680"/>
                        </a:lnSpc>
                        <a:buNone/>
                      </a:pPr>
                      <a:r>
                        <a:rPr lang="en-US" sz="1200" dirty="0">
                          <a:solidFill>
                            <a:srgbClr val="3B4556"/>
                          </a:solidFill>
                          <a:latin typeface="IBM Plex Sans" pitchFamily="34" charset="0"/>
                          <a:ea typeface="IBM Plex Sans" pitchFamily="34" charset="-122"/>
                          <a:cs typeface="IBM Plex Sans" pitchFamily="34" charset="-120"/>
                        </a:rPr>
                        <a:t>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3B4556"/>
                          </a:solidFill>
                          <a:latin typeface="IBM Plex Sans" pitchFamily="34" charset="0"/>
                          <a:ea typeface="IBM Plex Sans" pitchFamily="34" charset="-122"/>
                          <a:cs typeface="IBM Plex Sans" pitchFamily="34" charset="-120"/>
                        </a:rPr>
                        <a:t>Healthchecks ; Grafana lit PostgreSQL même si l’API tombe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3B4556"/>
                          </a:solidFill>
                          <a:latin typeface="IBM Plex Sans" pitchFamily="34" charset="0"/>
                          <a:ea typeface="IBM Plex Sans" pitchFamily="34" charset="-122"/>
                          <a:cs typeface="IBM Plex Sans" pitchFamily="34" charset="-120"/>
                        </a:rPr>
                        <a:t>Redémarrage auto, sauvegardes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759460">
                <a:tc>
                  <a:txBody>
                    <a:bodyPr/>
                    <a:lstStyle/>
                    <a:p>
                      <a:pPr indent="0" marL="0">
                        <a:lnSpc>
                          <a:spcPts val="1680"/>
                        </a:lnSpc>
                        <a:buNone/>
                      </a:pPr>
                      <a:r>
                        <a:rPr lang="en-US" sz="1200" dirty="0">
                          <a:solidFill>
                            <a:srgbClr val="3B4556"/>
                          </a:solidFill>
                          <a:latin typeface="IBM Plex Sans" pitchFamily="34" charset="0"/>
                          <a:ea typeface="IBM Plex Sans" pitchFamily="34" charset="-122"/>
                          <a:cs typeface="IBM Plex Sans" pitchFamily="34" charset="-120"/>
                        </a:rPr>
                        <a:t>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indent="0" marL="0">
                        <a:lnSpc>
                          <a:spcPts val="1680"/>
                        </a:lnSpc>
                        <a:buNone/>
                      </a:pPr>
                      <a:r>
                        <a:rPr lang="en-US" sz="1200" dirty="0">
                          <a:solidFill>
                            <a:srgbClr val="3B4556"/>
                          </a:solidFill>
                          <a:latin typeface="IBM Plex Sans" pitchFamily="34" charset="0"/>
                          <a:ea typeface="IBM Plex Sans" pitchFamily="34" charset="-122"/>
                          <a:cs typeface="IBM Plex Sans" pitchFamily="34" charset="-120"/>
                        </a:rPr>
                        <a:t>Bornes physiques, winsorisation, aucune fuite train/test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indent="0" marL="0">
                        <a:lnSpc>
                          <a:spcPts val="1680"/>
                        </a:lnSpc>
                        <a:buNone/>
                      </a:pPr>
                      <a:r>
                        <a:rPr lang="en-US" sz="1200" dirty="0">
                          <a:solidFill>
                            <a:srgbClr val="3B4556"/>
                          </a:solidFill>
                          <a:latin typeface="IBM Plex Sans" pitchFamily="34" charset="0"/>
                          <a:ea typeface="IBM Plex Sans" pitchFamily="34" charset="-122"/>
                          <a:cs typeface="IBM Plex Sans" pitchFamily="34" charset="-120"/>
                        </a:rPr>
                        <a:t>Clés étrangères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r>
              <a:tr h="546100">
                <a:tc>
                  <a:txBody>
                    <a:bodyPr/>
                    <a:lstStyle/>
                    <a:p>
                      <a:pPr indent="0" marL="0">
                        <a:lnSpc>
                          <a:spcPts val="1680"/>
                        </a:lnSpc>
                        <a:buNone/>
                      </a:pPr>
                      <a:r>
                        <a:rPr lang="en-US" sz="1200" dirty="0">
                          <a:solidFill>
                            <a:srgbClr val="3B4556"/>
                          </a:solidFill>
                          <a:latin typeface="IBM Plex Sans" pitchFamily="34" charset="0"/>
                          <a:ea typeface="IBM Plex Sans" pitchFamily="34" charset="-122"/>
                          <a:cs typeface="IBM Plex Sans" pitchFamily="34" charset="-120"/>
                        </a:rPr>
                        <a:t>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3B4556"/>
                          </a:solidFill>
                          <a:latin typeface="IBM Plex Sans" pitchFamily="34" charset="0"/>
                          <a:ea typeface="IBM Plex Sans" pitchFamily="34" charset="-122"/>
                          <a:cs typeface="IBM Plex Sans" pitchFamily="34" charset="-120"/>
                        </a:rPr>
                        <a:t>Comptes à moindre privilège, Grafana en lecture seule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680"/>
                        </a:lnSpc>
                        <a:buNone/>
                      </a:pPr>
                      <a:r>
                        <a:rPr lang="en-US" sz="1200" dirty="0">
                          <a:solidFill>
                            <a:srgbClr val="3B4556"/>
                          </a:solidFill>
                          <a:latin typeface="IBM Plex Sans" pitchFamily="34" charset="0"/>
                          <a:ea typeface="IBM Plex Sans" pitchFamily="34" charset="-122"/>
                          <a:cs typeface="IBM Plex Sans" pitchFamily="34" charset="-120"/>
                        </a:rPr>
                        <a:t>Secrets hors du code, TLS, ports internes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8" name="Text 5"/>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MECHA IA — Soutenance MSPR TPRE822 · doc 02</a:t>
            </a:r>
            <a:endParaRPr lang="en-US" sz="1200" dirty="0"/>
          </a:p>
        </p:txBody>
      </p:sp>
      <p:sp>
        <p:nvSpPr>
          <p:cNvPr id="9" name="Text 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5 / 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80F"/>
                </a:solidFill>
                <a:latin typeface="IBM Plex Sans" pitchFamily="34" charset="0"/>
                <a:ea typeface="IBM Plex Sans" pitchFamily="34" charset="-122"/>
                <a:cs typeface="IBM Plex Sans" pitchFamily="34" charset="-120"/>
              </a:rPr>
              <a:t>05 · LE JEU DE DONNÉES</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Des machines suivies jusqu’à la panne</a:t>
            </a:r>
            <a:endParaRPr lang="en-US" sz="3200" dirty="0"/>
          </a:p>
        </p:txBody>
      </p:sp>
      <p:sp>
        <p:nvSpPr>
          <p:cNvPr id="4" name="Text 2"/>
          <p:cNvSpPr/>
          <p:nvPr/>
        </p:nvSpPr>
        <p:spPr>
          <a:xfrm>
            <a:off x="812800" y="1854200"/>
            <a:ext cx="2066798"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4213D"/>
                </a:solidFill>
                <a:latin typeface="JetBrains Mono" pitchFamily="49" charset="0"/>
                <a:ea typeface="JetBrains Mono" pitchFamily="49" charset="-122"/>
                <a:cs typeface="JetBrains Mono" pitchFamily="49" charset="-120"/>
              </a:rPr>
              <a:t>50</a:t>
            </a:r>
            <a:endParaRPr lang="en-US" sz="3200" dirty="0"/>
          </a:p>
        </p:txBody>
      </p:sp>
      <p:sp>
        <p:nvSpPr>
          <p:cNvPr id="5" name="Text 3"/>
          <p:cNvSpPr/>
          <p:nvPr/>
        </p:nvSpPr>
        <p:spPr>
          <a:xfrm>
            <a:off x="812800" y="2448561"/>
            <a:ext cx="206679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machines</a:t>
            </a:r>
            <a:endParaRPr lang="en-US" sz="1300" dirty="0"/>
          </a:p>
        </p:txBody>
      </p:sp>
      <p:sp>
        <p:nvSpPr>
          <p:cNvPr id="6" name="Text 4"/>
          <p:cNvSpPr/>
          <p:nvPr/>
        </p:nvSpPr>
        <p:spPr>
          <a:xfrm>
            <a:off x="2971800" y="1854200"/>
            <a:ext cx="2066798"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4213D"/>
                </a:solidFill>
                <a:latin typeface="JetBrains Mono" pitchFamily="49" charset="0"/>
                <a:ea typeface="JetBrains Mono" pitchFamily="49" charset="-122"/>
                <a:cs typeface="JetBrains Mono" pitchFamily="49" charset="-120"/>
              </a:rPr>
              <a:t>9 200</a:t>
            </a:r>
            <a:endParaRPr lang="en-US" sz="3200" dirty="0"/>
          </a:p>
        </p:txBody>
      </p:sp>
      <p:sp>
        <p:nvSpPr>
          <p:cNvPr id="7" name="Text 5"/>
          <p:cNvSpPr/>
          <p:nvPr/>
        </p:nvSpPr>
        <p:spPr>
          <a:xfrm>
            <a:off x="2971800" y="2448561"/>
            <a:ext cx="206679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cycles (1 cycle = 1 h)</a:t>
            </a:r>
            <a:endParaRPr lang="en-US" sz="1300" dirty="0"/>
          </a:p>
        </p:txBody>
      </p:sp>
      <p:sp>
        <p:nvSpPr>
          <p:cNvPr id="8" name="Text 6"/>
          <p:cNvSpPr/>
          <p:nvPr/>
        </p:nvSpPr>
        <p:spPr>
          <a:xfrm>
            <a:off x="5130800" y="1854200"/>
            <a:ext cx="2066798" cy="59436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14213D"/>
                </a:solidFill>
                <a:latin typeface="JetBrains Mono" pitchFamily="49" charset="0"/>
                <a:ea typeface="JetBrains Mono" pitchFamily="49" charset="-122"/>
                <a:cs typeface="JetBrains Mono" pitchFamily="49" charset="-120"/>
              </a:rPr>
              <a:t>10</a:t>
            </a:r>
            <a:endParaRPr lang="en-US" sz="3200" dirty="0"/>
          </a:p>
        </p:txBody>
      </p:sp>
      <p:sp>
        <p:nvSpPr>
          <p:cNvPr id="9" name="Text 7"/>
          <p:cNvSpPr/>
          <p:nvPr/>
        </p:nvSpPr>
        <p:spPr>
          <a:xfrm>
            <a:off x="5130800" y="2448561"/>
            <a:ext cx="206679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capteurs</a:t>
            </a:r>
            <a:endParaRPr lang="en-US" sz="1300" dirty="0"/>
          </a:p>
        </p:txBody>
      </p:sp>
      <p:sp>
        <p:nvSpPr>
          <p:cNvPr id="10" name="Text 8"/>
          <p:cNvSpPr/>
          <p:nvPr/>
        </p:nvSpPr>
        <p:spPr>
          <a:xfrm>
            <a:off x="812800" y="2857500"/>
            <a:ext cx="6514338"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B4556"/>
                </a:solidFill>
                <a:latin typeface="IBM Plex Sans" pitchFamily="34" charset="0"/>
                <a:ea typeface="IBM Plex Sans" pitchFamily="34" charset="-122"/>
                <a:cs typeface="IBM Plex Sans" pitchFamily="34" charset="-120"/>
              </a:rPr>
              <a:t>Jeu </a:t>
            </a:r>
            <a:r>
              <a:rPr lang="en-US" sz="1400" b="1" dirty="0">
                <a:solidFill>
                  <a:srgbClr val="3B4556"/>
                </a:solidFill>
                <a:latin typeface="IBM Plex Sans" pitchFamily="34" charset="0"/>
                <a:ea typeface="IBM Plex Sans" pitchFamily="34" charset="-122"/>
                <a:cs typeface="IBM Plex Sans" pitchFamily="34" charset="-120"/>
              </a:rPr>
              <a:t>synthétique</a:t>
            </a:r>
            <a:r>
              <a:rPr lang="en-US" sz="1400" dirty="0">
                <a:solidFill>
                  <a:srgbClr val="3B4556"/>
                </a:solidFill>
                <a:latin typeface="IBM Plex Sans" pitchFamily="34" charset="0"/>
                <a:ea typeface="IBM Plex Sans" pitchFamily="34" charset="-122"/>
                <a:cs typeface="IBM Plex Sans" pitchFamily="34" charset="-120"/>
              </a:rPr>
              <a:t> au format NASA CMAPSS (run-to-failure) : le seul type de jeu qui permet à la fois de classer l’état machine et de prédire le temps restant.</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5500" y="3563621"/>
          <a:ext cx="6311900" cy="1437640"/>
        </p:xfrm>
        <a:graphic>
          <a:graphicData uri="http://schemas.openxmlformats.org/drawingml/2006/table">
            <a:tbl>
              <a:tblPr/>
              <a:tblGrid>
                <a:gridCol w="2146046"/>
                <a:gridCol w="2524760"/>
                <a:gridCol w="1641094"/>
              </a:tblGrid>
              <a:tr h="359410">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Niveau</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RUL (temps restant)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Part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410">
                <a:tc>
                  <a:txBody>
                    <a:bodyPr/>
                    <a:lstStyle/>
                    <a:p>
                      <a:pPr indent="0" marL="0">
                        <a:lnSpc>
                          <a:spcPts val="1820"/>
                        </a:lnSpc>
                        <a:buNone/>
                      </a:pPr>
                      <a:r>
                        <a:rPr lang="en-US" sz="1300" dirty="0">
                          <a:solidFill>
                            <a:srgbClr val="B4580F"/>
                          </a:solidFill>
                          <a:latin typeface="IBM Plex Sans" pitchFamily="34" charset="0"/>
                          <a:ea typeface="IBM Plex Sans" pitchFamily="34" charset="-122"/>
                          <a:cs typeface="IBM Plex Sans" pitchFamily="34" charset="-120"/>
                        </a:rPr>
                        <a:t>À risque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 8 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5 %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À surveiller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9 à 24 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9 %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Normal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&gt; 24 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86 %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12" name="Shape 9"/>
          <p:cNvSpPr/>
          <p:nvPr/>
        </p:nvSpPr>
        <p:spPr>
          <a:xfrm>
            <a:off x="7445375" y="1857375"/>
            <a:ext cx="3930650" cy="3140710"/>
          </a:xfrm>
          <a:prstGeom prst="roundRect">
            <a:avLst>
              <a:gd name="adj" fmla="val 3134"/>
            </a:avLst>
          </a:prstGeom>
          <a:solidFill>
            <a:srgbClr val="FDFCFA"/>
          </a:solidFill>
          <a:ln w="6350">
            <a:solidFill>
              <a:srgbClr val="E2DFD8"/>
            </a:solidFill>
            <a:prstDash val="solid"/>
          </a:ln>
        </p:spPr>
      </p:sp>
      <p:sp>
        <p:nvSpPr>
          <p:cNvPr id="13" name="Text 10"/>
          <p:cNvSpPr/>
          <p:nvPr/>
        </p:nvSpPr>
        <p:spPr>
          <a:xfrm>
            <a:off x="7675033" y="2087032"/>
            <a:ext cx="357547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Préparation</a:t>
            </a:r>
            <a:endParaRPr lang="en-US" sz="1600" dirty="0"/>
          </a:p>
        </p:txBody>
      </p:sp>
      <p:sp>
        <p:nvSpPr>
          <p:cNvPr id="14" name="Text 11"/>
          <p:cNvSpPr/>
          <p:nvPr/>
        </p:nvSpPr>
        <p:spPr>
          <a:xfrm>
            <a:off x="7760377" y="2432475"/>
            <a:ext cx="3482509" cy="1701165"/>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Bornes physiques : valeur négative impossible</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Écrêtage IQR calculé par machine : la hausse de fin de vie est préservée</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Alerte capteur dès 3 valeurs aberrantes : défaut de mesure, pas panne</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Livré dans data/ : brut, nettoyé, prédictions</a:t>
            </a:r>
            <a:endParaRPr lang="en-US" sz="1300" dirty="0"/>
          </a:p>
        </p:txBody>
      </p:sp>
      <p:sp>
        <p:nvSpPr>
          <p:cNvPr id="15" name="Text 12"/>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MECHA IA — Soutenance MSPR TPRE822 · doc 02</a:t>
            </a:r>
            <a:endParaRPr lang="en-US" sz="1200" dirty="0"/>
          </a:p>
        </p:txBody>
      </p:sp>
      <p:sp>
        <p:nvSpPr>
          <p:cNvPr id="16" name="Text 1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6 / 17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490"/>
          </a:xfrm>
          <a:prstGeom prst="rect">
            <a:avLst/>
          </a:prstGeom>
          <a:noFill/>
          <a:ln/>
        </p:spPr>
        <p:txBody>
          <a:bodyPr wrap="square" lIns="0" tIns="0" rIns="0" bIns="0" rtlCol="0" anchor="t">
            <a:normAutofit/>
          </a:bodyPr>
          <a:lstStyle/>
          <a:p>
            <a:pPr algn="l" indent="0" marL="0">
              <a:lnSpc>
                <a:spcPts val="1670"/>
              </a:lnSpc>
              <a:buNone/>
            </a:pPr>
            <a:r>
              <a:rPr lang="en-US" sz="1193" b="1" spc="100" kern="0" dirty="0">
                <a:solidFill>
                  <a:srgbClr val="B4580F"/>
                </a:solidFill>
                <a:latin typeface="IBM Plex Sans" pitchFamily="34" charset="0"/>
                <a:ea typeface="IBM Plex Sans" pitchFamily="34" charset="-122"/>
                <a:cs typeface="IBM Plex Sans" pitchFamily="34" charset="-120"/>
              </a:rPr>
              <a:t>06 · ARCHITECTURE</a:t>
            </a:r>
            <a:endParaRPr lang="en-US" sz="1193" dirty="0"/>
          </a:p>
        </p:txBody>
      </p:sp>
      <p:sp>
        <p:nvSpPr>
          <p:cNvPr id="3" name="Text 1"/>
          <p:cNvSpPr/>
          <p:nvPr>
            <p:ph type="title"/>
          </p:nvPr>
        </p:nvSpPr>
        <p:spPr>
          <a:xfrm>
            <a:off x="812800" y="1101089"/>
            <a:ext cx="10883392" cy="46979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Implémenté en trait plein, cible en pointillés</a:t>
            </a:r>
            <a:endParaRPr lang="en-US" sz="3200" dirty="0"/>
          </a:p>
        </p:txBody>
      </p:sp>
      <p:sp>
        <p:nvSpPr>
          <p:cNvPr id="4" name="Shape 2"/>
          <p:cNvSpPr/>
          <p:nvPr/>
        </p:nvSpPr>
        <p:spPr>
          <a:xfrm>
            <a:off x="812800" y="1799484"/>
            <a:ext cx="5842000" cy="4064000"/>
          </a:xfrm>
          <a:prstGeom prst="roundRect">
            <a:avLst>
              <a:gd name="adj" fmla="val 2500"/>
            </a:avLst>
          </a:prstGeom>
          <a:solidFill>
            <a:srgbClr val="FFFFFF"/>
          </a:solidFill>
          <a:ln/>
        </p:spPr>
      </p:sp>
      <p:pic>
        <p:nvPicPr>
          <p:cNvPr id="5" name="Image 0" descr="Schéma d’architecture : capteurs et MQTT/Kafka en cible ; rejeu des capteurs vers InfluxDB ; pipeline d’inférence avec les modèles du notebook ; API FastAPI qui écrit dans PostgreSQL ; Grafana et Metabase en restitution">    </p:cNvPr>
          <p:cNvPicPr>
            <a:picLocks noChangeAspect="1"/>
          </p:cNvPicPr>
          <p:nvPr/>
        </p:nvPicPr>
        <p:blipFill>
          <a:blip r:embed="rId1"/>
          <a:stretch>
            <a:fillRect/>
          </a:stretch>
        </p:blipFill>
        <p:spPr>
          <a:xfrm>
            <a:off x="819150" y="1830990"/>
            <a:ext cx="5829300" cy="4000987"/>
          </a:xfrm>
          <a:custGeom>
            <a:avLst/>
            <a:gdLst/>
            <a:ahLst/>
            <a:cxnLst/>
            <a:rect l="l" t="t" r="r" b="b"/>
            <a:pathLst>
              <a:path w="5829300" h="4000987">
                <a:moveTo>
                  <a:pt x="0" y="70094"/>
                </a:moveTo>
                <a:arcTo wR="95250" hR="95250" stAng="10800000" swAng="2842954"/>
                <a:lnTo>
                  <a:pt x="5798544" y="0"/>
                </a:lnTo>
                <a:arcTo wR="95250" hR="95250" stAng="18757046" swAng="2842954"/>
                <a:lnTo>
                  <a:pt x="5829300" y="3930894"/>
                </a:lnTo>
                <a:arcTo wR="95250" hR="95250" stAng="0" swAng="2842954"/>
                <a:lnTo>
                  <a:pt x="30756" y="4000987"/>
                </a:lnTo>
                <a:arcTo wR="95250" hR="95250" stAng="7957046" swAng="2842954"/>
                <a:close/>
              </a:path>
            </a:pathLst>
          </a:custGeom>
        </p:spPr>
      </p:pic>
      <p:sp>
        <p:nvSpPr>
          <p:cNvPr id="6" name="Shape 3"/>
          <p:cNvSpPr/>
          <p:nvPr/>
        </p:nvSpPr>
        <p:spPr>
          <a:xfrm>
            <a:off x="815975" y="1802659"/>
            <a:ext cx="5835650" cy="4057650"/>
          </a:xfrm>
          <a:prstGeom prst="roundRect">
            <a:avLst>
              <a:gd name="adj" fmla="val 2426"/>
            </a:avLst>
          </a:prstGeom>
          <a:noFill/>
          <a:ln w="6350">
            <a:solidFill>
              <a:srgbClr val="E2DFD8"/>
            </a:solidFill>
            <a:prstDash val="solid"/>
          </a:ln>
        </p:spPr>
      </p:sp>
      <p:sp>
        <p:nvSpPr>
          <p:cNvPr id="7" name="Text 4"/>
          <p:cNvSpPr/>
          <p:nvPr/>
        </p:nvSpPr>
        <p:spPr>
          <a:xfrm>
            <a:off x="6959600" y="1799484"/>
            <a:ext cx="45521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Code partagé</a:t>
            </a:r>
            <a:endParaRPr lang="en-US" sz="1500" dirty="0"/>
          </a:p>
        </p:txBody>
      </p:sp>
      <p:sp>
        <p:nvSpPr>
          <p:cNvPr id="8" name="Text 5"/>
          <p:cNvSpPr/>
          <p:nvPr/>
        </p:nvSpPr>
        <p:spPr>
          <a:xfrm>
            <a:off x="6959600" y="2078884"/>
            <a:ext cx="455218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Le notebook et le pipeline utilisent le même nettoyage et la même règle de décision (src/)</a:t>
            </a:r>
            <a:endParaRPr lang="en-US" sz="1300" dirty="0"/>
          </a:p>
        </p:txBody>
      </p:sp>
      <p:sp>
        <p:nvSpPr>
          <p:cNvPr id="9" name="Text 6"/>
          <p:cNvSpPr/>
          <p:nvPr/>
        </p:nvSpPr>
        <p:spPr>
          <a:xfrm>
            <a:off x="6959600" y="2718963"/>
            <a:ext cx="45521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Un seul point d’écriture</a:t>
            </a:r>
            <a:endParaRPr lang="en-US" sz="1500" dirty="0"/>
          </a:p>
        </p:txBody>
      </p:sp>
      <p:sp>
        <p:nvSpPr>
          <p:cNvPr id="10" name="Text 7"/>
          <p:cNvSpPr/>
          <p:nvPr/>
        </p:nvSpPr>
        <p:spPr>
          <a:xfrm>
            <a:off x="6959600" y="2998363"/>
            <a:ext cx="455218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L’API valide les prédictions et génère les alertes</a:t>
            </a:r>
            <a:endParaRPr lang="en-US" sz="1300" dirty="0"/>
          </a:p>
        </p:txBody>
      </p:sp>
      <p:sp>
        <p:nvSpPr>
          <p:cNvPr id="11" name="Text 8"/>
          <p:cNvSpPr/>
          <p:nvPr/>
        </p:nvSpPr>
        <p:spPr>
          <a:xfrm>
            <a:off x="6959600" y="3407305"/>
            <a:ext cx="455218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IoT simulé</a:t>
            </a:r>
            <a:endParaRPr lang="en-US" sz="1500" dirty="0"/>
          </a:p>
        </p:txBody>
      </p:sp>
      <p:sp>
        <p:nvSpPr>
          <p:cNvPr id="12" name="Text 9"/>
          <p:cNvSpPr/>
          <p:nvPr/>
        </p:nvSpPr>
        <p:spPr>
          <a:xfrm>
            <a:off x="6959600" y="3686705"/>
            <a:ext cx="455218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MQTT et Kafka restent en cible ; un script rejoue les capteurs dans InfluxDB</a:t>
            </a:r>
            <a:endParaRPr lang="en-US" sz="1300" dirty="0"/>
          </a:p>
        </p:txBody>
      </p:sp>
      <p:sp>
        <p:nvSpPr>
          <p:cNvPr id="13" name="Text 10"/>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MECHA IA — Soutenance MSPR TPRE822 · doc 03</a:t>
            </a:r>
            <a:endParaRPr lang="en-US" sz="1200" dirty="0"/>
          </a:p>
        </p:txBody>
      </p:sp>
      <p:sp>
        <p:nvSpPr>
          <p:cNvPr id="14" name="Text 11"/>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7 / 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80F"/>
                </a:solidFill>
                <a:latin typeface="IBM Plex Sans" pitchFamily="34" charset="0"/>
                <a:ea typeface="IBM Plex Sans" pitchFamily="34" charset="-122"/>
                <a:cs typeface="IBM Plex Sans" pitchFamily="34" charset="-120"/>
              </a:rPr>
              <a:t>07 · CHOIX DES MODÈLES</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11 modèles comparés sur la métrique métier</a:t>
            </a:r>
            <a:endParaRPr lang="en-US" sz="3200" dirty="0"/>
          </a:p>
        </p:txBody>
      </p:sp>
      <p:sp>
        <p:nvSpPr>
          <p:cNvPr id="4" name="Text 2"/>
          <p:cNvSpPr/>
          <p:nvPr/>
        </p:nvSpPr>
        <p:spPr>
          <a:xfrm>
            <a:off x="812800" y="1803400"/>
            <a:ext cx="528472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État machine — rappel « à risque »</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46300"/>
          <a:ext cx="5118100" cy="2515870"/>
        </p:xfrm>
        <a:graphic>
          <a:graphicData uri="http://schemas.openxmlformats.org/drawingml/2006/table">
            <a:tbl>
              <a:tblPr/>
              <a:tblGrid>
                <a:gridCol w="2661412"/>
                <a:gridCol w="1228344"/>
                <a:gridCol w="1228344"/>
              </a:tblGrid>
              <a:tr h="359410">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Modèle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Rappel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Accuracy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Logistic Regression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9BCAD"/>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BCAD"/>
                      </a:solidFill>
                      <a:prstDash val="solid"/>
                      <a:round/>
                      <a:headEnd type="none" w="med" len="med"/>
                      <a:tailEnd type="none" w="med" len="med"/>
                    </a:lnB>
                    <a:solidFill>
                      <a:srgbClr val="FCEBD9"/>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0,607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BCAD"/>
                      </a:solidFill>
                      <a:prstDash val="solid"/>
                      <a:round/>
                      <a:headEnd type="none" w="med" len="med"/>
                      <a:tailEnd type="none" w="med" len="med"/>
                    </a:lnL>
                    <a:lnR w="12700" cap="flat" cmpd="sng" algn="ctr">
                      <a:solidFill>
                        <a:srgbClr val="C9BCAD"/>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BCAD"/>
                      </a:solidFill>
                      <a:prstDash val="solid"/>
                      <a:round/>
                      <a:headEnd type="none" w="med" len="med"/>
                      <a:tailEnd type="none" w="med" len="med"/>
                    </a:lnB>
                    <a:solidFill>
                      <a:srgbClr val="FCEBD9"/>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0,842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BCAD"/>
                      </a:solidFill>
                      <a:prstDash val="solid"/>
                      <a:round/>
                      <a:headEnd type="none" w="med" len="med"/>
                      <a:tailEnd type="none" w="med" len="med"/>
                    </a:lnL>
                    <a:lnR w="12700" cap="flat" cmpd="sng" algn="ctr">
                      <a:solidFill>
                        <a:srgbClr val="C9BCAD"/>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BCAD"/>
                      </a:solidFill>
                      <a:prstDash val="solid"/>
                      <a:round/>
                      <a:headEnd type="none" w="med" len="med"/>
                      <a:tailEnd type="none" w="med" len="med"/>
                    </a:lnB>
                    <a:solidFill>
                      <a:srgbClr val="FCEBD9"/>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Random Forest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9BCAD"/>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0,482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9BCAD"/>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0,871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9BCAD"/>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Gradient Boosting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0,473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0,907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XGBoost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0,438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0,907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Decision Tree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0,418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0,825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KNN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0,284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0,890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6" name="Text 3"/>
          <p:cNvSpPr/>
          <p:nvPr/>
        </p:nvSpPr>
        <p:spPr>
          <a:xfrm>
            <a:off x="6248400" y="1803400"/>
            <a:ext cx="528472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Temps restant (RUL) — erreur moyenne</a:t>
            </a:r>
            <a:endParaRPr lang="en-US" sz="15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261100" y="2146300"/>
          <a:ext cx="5118100" cy="2156460"/>
        </p:xfrm>
        <a:graphic>
          <a:graphicData uri="http://schemas.openxmlformats.org/drawingml/2006/table">
            <a:tbl>
              <a:tblPr/>
              <a:tblGrid>
                <a:gridCol w="2661412"/>
                <a:gridCol w="1228344"/>
                <a:gridCol w="1228344"/>
              </a:tblGrid>
              <a:tr h="359410">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Modèle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MAE (h)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R²</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Random Forest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9BCAD"/>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BCAD"/>
                      </a:solidFill>
                      <a:prstDash val="solid"/>
                      <a:round/>
                      <a:headEnd type="none" w="med" len="med"/>
                      <a:tailEnd type="none" w="med" len="med"/>
                    </a:lnB>
                    <a:solidFill>
                      <a:srgbClr val="FCEBD9"/>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19,9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BCAD"/>
                      </a:solidFill>
                      <a:prstDash val="solid"/>
                      <a:round/>
                      <a:headEnd type="none" w="med" len="med"/>
                      <a:tailEnd type="none" w="med" len="med"/>
                    </a:lnL>
                    <a:lnR w="12700" cap="flat" cmpd="sng" algn="ctr">
                      <a:solidFill>
                        <a:srgbClr val="C9BCAD"/>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BCAD"/>
                      </a:solidFill>
                      <a:prstDash val="solid"/>
                      <a:round/>
                      <a:headEnd type="none" w="med" len="med"/>
                      <a:tailEnd type="none" w="med" len="med"/>
                    </a:lnB>
                    <a:solidFill>
                      <a:srgbClr val="FCEBD9"/>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0,824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BCAD"/>
                      </a:solidFill>
                      <a:prstDash val="solid"/>
                      <a:round/>
                      <a:headEnd type="none" w="med" len="med"/>
                      <a:tailEnd type="none" w="med" len="med"/>
                    </a:lnL>
                    <a:lnR w="12700" cap="flat" cmpd="sng" algn="ctr">
                      <a:solidFill>
                        <a:srgbClr val="C9BCAD"/>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BCAD"/>
                      </a:solidFill>
                      <a:prstDash val="solid"/>
                      <a:round/>
                      <a:headEnd type="none" w="med" len="med"/>
                      <a:tailEnd type="none" w="med" len="med"/>
                    </a:lnB>
                    <a:solidFill>
                      <a:srgbClr val="FCEBD9"/>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Gradient Boosting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9BCAD"/>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20,2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9BCAD"/>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0,814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9BCAD"/>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XGBoost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20,2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0,811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Linear Regression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22,1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0,792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Decision Tree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24,2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0,727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r>
            </a:tbl>
          </a:graphicData>
        </a:graphic>
      </p:graphicFrame>
      <p:sp>
        <p:nvSpPr>
          <p:cNvPr id="8" name="Text 4"/>
          <p:cNvSpPr/>
          <p:nvPr/>
        </p:nvSpPr>
        <p:spPr>
          <a:xfrm>
            <a:off x="812800" y="4916171"/>
            <a:ext cx="10566400" cy="802640"/>
          </a:xfrm>
          <a:prstGeom prst="roundRect">
            <a:avLst>
              <a:gd name="adj" fmla="val 9494"/>
            </a:avLst>
          </a:prstGeom>
          <a:solidFill>
            <a:srgbClr val="FCEBD9"/>
          </a:solidFill>
          <a:ln/>
        </p:spPr>
        <p:txBody>
          <a:bodyPr wrap="square" lIns="180882" tIns="130082" rIns="0" bIns="104682"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Retenus (en gras) : </a:t>
            </a:r>
            <a:r>
              <a:rPr lang="en-US" sz="1400" b="1" dirty="0">
                <a:solidFill>
                  <a:srgbClr val="14213D"/>
                </a:solidFill>
                <a:latin typeface="IBM Plex Sans" pitchFamily="34" charset="0"/>
                <a:ea typeface="IBM Plex Sans" pitchFamily="34" charset="-122"/>
                <a:cs typeface="IBM Plex Sans" pitchFamily="34" charset="-120"/>
              </a:rPr>
              <a:t>Logistic Regression</a:t>
            </a:r>
            <a:r>
              <a:rPr lang="en-US" sz="1400" dirty="0">
                <a:solidFill>
                  <a:srgbClr val="14213D"/>
                </a:solidFill>
                <a:latin typeface="IBM Plex Sans" pitchFamily="34" charset="0"/>
                <a:ea typeface="IBM Plex Sans" pitchFamily="34" charset="-122"/>
                <a:cs typeface="IBM Plex Sans" pitchFamily="34" charset="-120"/>
              </a:rPr>
              <a:t> et </a:t>
            </a:r>
            <a:r>
              <a:rPr lang="en-US" sz="1400" b="1" dirty="0">
                <a:solidFill>
                  <a:srgbClr val="14213D"/>
                </a:solidFill>
                <a:latin typeface="IBM Plex Sans" pitchFamily="34" charset="0"/>
                <a:ea typeface="IBM Plex Sans" pitchFamily="34" charset="-122"/>
                <a:cs typeface="IBM Plex Sans" pitchFamily="34" charset="-120"/>
              </a:rPr>
              <a:t>Random Forest</a:t>
            </a:r>
            <a:r>
              <a:rPr lang="en-US" sz="1400" dirty="0">
                <a:solidFill>
                  <a:srgbClr val="14213D"/>
                </a:solidFill>
                <a:latin typeface="IBM Plex Sans" pitchFamily="34" charset="0"/>
                <a:ea typeface="IBM Plex Sans" pitchFamily="34" charset="-122"/>
                <a:cs typeface="IBM Plex Sans" pitchFamily="34" charset="-120"/>
              </a:rPr>
              <a:t>. XGBoost a la meilleure accuracy mais rate plus d’une panne sur deux.</a:t>
            </a:r>
            <a:endParaRPr lang="en-US" sz="1400" dirty="0"/>
          </a:p>
        </p:txBody>
      </p:sp>
      <p:sp>
        <p:nvSpPr>
          <p:cNvPr id="9" name="Text 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Moyennes en validation croisée, 5 folds · doc 04</a:t>
            </a:r>
            <a:endParaRPr lang="en-US" sz="1200" dirty="0"/>
          </a:p>
        </p:txBody>
      </p:sp>
      <p:sp>
        <p:nvSpPr>
          <p:cNvPr id="10" name="Text 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8 / 17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80F"/>
                </a:solidFill>
                <a:latin typeface="IBM Plex Sans" pitchFamily="34" charset="0"/>
                <a:ea typeface="IBM Plex Sans" pitchFamily="34" charset="-122"/>
                <a:cs typeface="IBM Plex Sans" pitchFamily="34" charset="-120"/>
              </a:rPr>
              <a:t>08 · VALIDATION</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Valider par machine, jamais par ligne</a:t>
            </a:r>
            <a:endParaRPr lang="en-US" sz="3200" dirty="0"/>
          </a:p>
        </p:txBody>
      </p:sp>
      <p:sp>
        <p:nvSpPr>
          <p:cNvPr id="4" name="Text 2"/>
          <p:cNvSpPr/>
          <p:nvPr/>
        </p:nvSpPr>
        <p:spPr>
          <a:xfrm>
            <a:off x="812800" y="1925321"/>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Fold 1</a:t>
            </a:r>
            <a:endParaRPr lang="en-US" sz="1200" dirty="0"/>
          </a:p>
        </p:txBody>
      </p:sp>
      <p:sp>
        <p:nvSpPr>
          <p:cNvPr id="5" name="Shape 3"/>
          <p:cNvSpPr/>
          <p:nvPr/>
        </p:nvSpPr>
        <p:spPr>
          <a:xfrm>
            <a:off x="1676400" y="1854200"/>
            <a:ext cx="848360" cy="355600"/>
          </a:xfrm>
          <a:prstGeom prst="roundRect">
            <a:avLst>
              <a:gd name="adj" fmla="val 14286"/>
            </a:avLst>
          </a:prstGeom>
          <a:solidFill>
            <a:srgbClr val="E8892B"/>
          </a:solidFill>
          <a:ln/>
        </p:spPr>
      </p:sp>
      <p:sp>
        <p:nvSpPr>
          <p:cNvPr id="6" name="Shape 4"/>
          <p:cNvSpPr/>
          <p:nvPr/>
        </p:nvSpPr>
        <p:spPr>
          <a:xfrm>
            <a:off x="2626360" y="1854200"/>
            <a:ext cx="3393440" cy="355600"/>
          </a:xfrm>
          <a:prstGeom prst="roundRect">
            <a:avLst>
              <a:gd name="adj" fmla="val 14286"/>
            </a:avLst>
          </a:prstGeom>
          <a:solidFill>
            <a:srgbClr val="C9D6EA"/>
          </a:solidFill>
          <a:ln/>
        </p:spPr>
      </p:sp>
      <p:sp>
        <p:nvSpPr>
          <p:cNvPr id="7" name="Text 5"/>
          <p:cNvSpPr/>
          <p:nvPr/>
        </p:nvSpPr>
        <p:spPr>
          <a:xfrm>
            <a:off x="812800" y="2382521"/>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Fold 2</a:t>
            </a:r>
            <a:endParaRPr lang="en-US" sz="1200" dirty="0"/>
          </a:p>
        </p:txBody>
      </p:sp>
      <p:sp>
        <p:nvSpPr>
          <p:cNvPr id="8" name="Shape 6"/>
          <p:cNvSpPr/>
          <p:nvPr/>
        </p:nvSpPr>
        <p:spPr>
          <a:xfrm>
            <a:off x="1676400" y="2311400"/>
            <a:ext cx="828040" cy="355600"/>
          </a:xfrm>
          <a:prstGeom prst="roundRect">
            <a:avLst>
              <a:gd name="adj" fmla="val 14286"/>
            </a:avLst>
          </a:prstGeom>
          <a:solidFill>
            <a:srgbClr val="C9D6EA"/>
          </a:solidFill>
          <a:ln/>
        </p:spPr>
      </p:sp>
      <p:sp>
        <p:nvSpPr>
          <p:cNvPr id="9" name="Shape 7"/>
          <p:cNvSpPr/>
          <p:nvPr/>
        </p:nvSpPr>
        <p:spPr>
          <a:xfrm>
            <a:off x="2606040" y="2311400"/>
            <a:ext cx="828040" cy="355600"/>
          </a:xfrm>
          <a:prstGeom prst="roundRect">
            <a:avLst>
              <a:gd name="adj" fmla="val 14286"/>
            </a:avLst>
          </a:prstGeom>
          <a:solidFill>
            <a:srgbClr val="E8892B"/>
          </a:solidFill>
          <a:ln/>
        </p:spPr>
      </p:sp>
      <p:sp>
        <p:nvSpPr>
          <p:cNvPr id="10" name="Shape 8"/>
          <p:cNvSpPr/>
          <p:nvPr/>
        </p:nvSpPr>
        <p:spPr>
          <a:xfrm>
            <a:off x="3535680" y="2311400"/>
            <a:ext cx="2484120" cy="355600"/>
          </a:xfrm>
          <a:prstGeom prst="roundRect">
            <a:avLst>
              <a:gd name="adj" fmla="val 14286"/>
            </a:avLst>
          </a:prstGeom>
          <a:solidFill>
            <a:srgbClr val="C9D6EA"/>
          </a:solidFill>
          <a:ln/>
        </p:spPr>
      </p:sp>
      <p:sp>
        <p:nvSpPr>
          <p:cNvPr id="11" name="Text 9"/>
          <p:cNvSpPr/>
          <p:nvPr/>
        </p:nvSpPr>
        <p:spPr>
          <a:xfrm>
            <a:off x="812800" y="2839721"/>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Fold 3</a:t>
            </a:r>
            <a:endParaRPr lang="en-US" sz="1200" dirty="0"/>
          </a:p>
        </p:txBody>
      </p:sp>
      <p:sp>
        <p:nvSpPr>
          <p:cNvPr id="12" name="Shape 10"/>
          <p:cNvSpPr/>
          <p:nvPr/>
        </p:nvSpPr>
        <p:spPr>
          <a:xfrm>
            <a:off x="1676400" y="2768600"/>
            <a:ext cx="1656080" cy="355600"/>
          </a:xfrm>
          <a:prstGeom prst="roundRect">
            <a:avLst>
              <a:gd name="adj" fmla="val 14286"/>
            </a:avLst>
          </a:prstGeom>
          <a:solidFill>
            <a:srgbClr val="C9D6EA"/>
          </a:solidFill>
          <a:ln/>
        </p:spPr>
      </p:sp>
      <p:sp>
        <p:nvSpPr>
          <p:cNvPr id="13" name="Shape 11"/>
          <p:cNvSpPr/>
          <p:nvPr/>
        </p:nvSpPr>
        <p:spPr>
          <a:xfrm>
            <a:off x="3434080" y="2768600"/>
            <a:ext cx="828040" cy="355600"/>
          </a:xfrm>
          <a:prstGeom prst="roundRect">
            <a:avLst>
              <a:gd name="adj" fmla="val 14286"/>
            </a:avLst>
          </a:prstGeom>
          <a:solidFill>
            <a:srgbClr val="E8892B"/>
          </a:solidFill>
          <a:ln/>
        </p:spPr>
      </p:sp>
      <p:sp>
        <p:nvSpPr>
          <p:cNvPr id="14" name="Shape 12"/>
          <p:cNvSpPr/>
          <p:nvPr/>
        </p:nvSpPr>
        <p:spPr>
          <a:xfrm>
            <a:off x="4363720" y="2768600"/>
            <a:ext cx="1656080" cy="355600"/>
          </a:xfrm>
          <a:prstGeom prst="roundRect">
            <a:avLst>
              <a:gd name="adj" fmla="val 14286"/>
            </a:avLst>
          </a:prstGeom>
          <a:solidFill>
            <a:srgbClr val="C9D6EA"/>
          </a:solidFill>
          <a:ln/>
        </p:spPr>
      </p:sp>
      <p:sp>
        <p:nvSpPr>
          <p:cNvPr id="15" name="Text 13"/>
          <p:cNvSpPr/>
          <p:nvPr/>
        </p:nvSpPr>
        <p:spPr>
          <a:xfrm>
            <a:off x="812800" y="3296921"/>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Fold 4</a:t>
            </a:r>
            <a:endParaRPr lang="en-US" sz="1200" dirty="0"/>
          </a:p>
        </p:txBody>
      </p:sp>
      <p:sp>
        <p:nvSpPr>
          <p:cNvPr id="16" name="Shape 14"/>
          <p:cNvSpPr/>
          <p:nvPr/>
        </p:nvSpPr>
        <p:spPr>
          <a:xfrm>
            <a:off x="1676400" y="3225800"/>
            <a:ext cx="2484120" cy="355600"/>
          </a:xfrm>
          <a:prstGeom prst="roundRect">
            <a:avLst>
              <a:gd name="adj" fmla="val 14286"/>
            </a:avLst>
          </a:prstGeom>
          <a:solidFill>
            <a:srgbClr val="C9D6EA"/>
          </a:solidFill>
          <a:ln/>
        </p:spPr>
      </p:sp>
      <p:sp>
        <p:nvSpPr>
          <p:cNvPr id="17" name="Shape 15"/>
          <p:cNvSpPr/>
          <p:nvPr/>
        </p:nvSpPr>
        <p:spPr>
          <a:xfrm>
            <a:off x="4262120" y="3225800"/>
            <a:ext cx="828040" cy="355600"/>
          </a:xfrm>
          <a:prstGeom prst="roundRect">
            <a:avLst>
              <a:gd name="adj" fmla="val 14286"/>
            </a:avLst>
          </a:prstGeom>
          <a:solidFill>
            <a:srgbClr val="E8892B"/>
          </a:solidFill>
          <a:ln/>
        </p:spPr>
      </p:sp>
      <p:sp>
        <p:nvSpPr>
          <p:cNvPr id="18" name="Shape 16"/>
          <p:cNvSpPr/>
          <p:nvPr/>
        </p:nvSpPr>
        <p:spPr>
          <a:xfrm>
            <a:off x="5191760" y="3225800"/>
            <a:ext cx="828040" cy="355600"/>
          </a:xfrm>
          <a:prstGeom prst="roundRect">
            <a:avLst>
              <a:gd name="adj" fmla="val 14286"/>
            </a:avLst>
          </a:prstGeom>
          <a:solidFill>
            <a:srgbClr val="C9D6EA"/>
          </a:solidFill>
          <a:ln/>
        </p:spPr>
      </p:sp>
      <p:sp>
        <p:nvSpPr>
          <p:cNvPr id="19" name="Text 17"/>
          <p:cNvSpPr/>
          <p:nvPr/>
        </p:nvSpPr>
        <p:spPr>
          <a:xfrm>
            <a:off x="812800" y="3754121"/>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Fold 5</a:t>
            </a:r>
            <a:endParaRPr lang="en-US" sz="1200" dirty="0"/>
          </a:p>
        </p:txBody>
      </p:sp>
      <p:sp>
        <p:nvSpPr>
          <p:cNvPr id="20" name="Shape 18"/>
          <p:cNvSpPr/>
          <p:nvPr/>
        </p:nvSpPr>
        <p:spPr>
          <a:xfrm>
            <a:off x="1676400" y="3683000"/>
            <a:ext cx="3393440" cy="355600"/>
          </a:xfrm>
          <a:prstGeom prst="roundRect">
            <a:avLst>
              <a:gd name="adj" fmla="val 14286"/>
            </a:avLst>
          </a:prstGeom>
          <a:solidFill>
            <a:srgbClr val="C9D6EA"/>
          </a:solidFill>
          <a:ln/>
        </p:spPr>
      </p:sp>
      <p:sp>
        <p:nvSpPr>
          <p:cNvPr id="21" name="Shape 19"/>
          <p:cNvSpPr/>
          <p:nvPr/>
        </p:nvSpPr>
        <p:spPr>
          <a:xfrm>
            <a:off x="5171440" y="3683000"/>
            <a:ext cx="848360" cy="355600"/>
          </a:xfrm>
          <a:prstGeom prst="roundRect">
            <a:avLst>
              <a:gd name="adj" fmla="val 14286"/>
            </a:avLst>
          </a:prstGeom>
          <a:solidFill>
            <a:srgbClr val="E8892B"/>
          </a:solidFill>
          <a:ln/>
        </p:spPr>
      </p:sp>
      <p:sp>
        <p:nvSpPr>
          <p:cNvPr id="22" name="Text 20"/>
          <p:cNvSpPr/>
          <p:nvPr/>
        </p:nvSpPr>
        <p:spPr>
          <a:xfrm>
            <a:off x="812800" y="4140200"/>
            <a:ext cx="53632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556"/>
                </a:solidFill>
                <a:latin typeface="IBM Plex Sans" pitchFamily="34" charset="0"/>
                <a:ea typeface="IBM Plex Sans" pitchFamily="34" charset="-122"/>
                <a:cs typeface="IBM Plex Sans" pitchFamily="34" charset="-120"/>
              </a:rPr>
              <a:t>Orange : 10 machines en test · bleu : 40 en apprentissage</a:t>
            </a:r>
            <a:endParaRPr lang="en-US" sz="1200" dirty="0"/>
          </a:p>
        </p:txBody>
      </p:sp>
      <p:sp>
        <p:nvSpPr>
          <p:cNvPr id="23" name="Text 21"/>
          <p:cNvSpPr/>
          <p:nvPr/>
        </p:nvSpPr>
        <p:spPr>
          <a:xfrm>
            <a:off x="6426200" y="1854200"/>
            <a:ext cx="51015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Aucune fuite</a:t>
            </a:r>
            <a:endParaRPr lang="en-US" sz="1500" dirty="0"/>
          </a:p>
        </p:txBody>
      </p:sp>
      <p:sp>
        <p:nvSpPr>
          <p:cNvPr id="24" name="Text 22"/>
          <p:cNvSpPr/>
          <p:nvPr/>
        </p:nvSpPr>
        <p:spPr>
          <a:xfrm>
            <a:off x="6426200" y="2133600"/>
            <a:ext cx="510159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GroupKFold : une machine est soit apprise, soit testée, vérifié à chaque fold</a:t>
            </a:r>
            <a:endParaRPr lang="en-US" sz="1300" dirty="0"/>
          </a:p>
        </p:txBody>
      </p:sp>
      <p:sp>
        <p:nvSpPr>
          <p:cNvPr id="25" name="Text 23"/>
          <p:cNvSpPr/>
          <p:nvPr/>
        </p:nvSpPr>
        <p:spPr>
          <a:xfrm>
            <a:off x="6426200" y="2799079"/>
            <a:ext cx="51015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Un chiffre plus honnête</a:t>
            </a:r>
            <a:endParaRPr lang="en-US" sz="1500" dirty="0"/>
          </a:p>
        </p:txBody>
      </p:sp>
      <p:sp>
        <p:nvSpPr>
          <p:cNvPr id="26" name="Text 24"/>
          <p:cNvSpPr/>
          <p:nvPr/>
        </p:nvSpPr>
        <p:spPr>
          <a:xfrm>
            <a:off x="6426200" y="3078479"/>
            <a:ext cx="510159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Le split unique était optimiste : MAE 18,9 h, contre 19,9 h en validation croisée</a:t>
            </a:r>
            <a:endParaRPr lang="en-US" sz="1300" dirty="0"/>
          </a:p>
        </p:txBody>
      </p:sp>
      <p:sp>
        <p:nvSpPr>
          <p:cNvPr id="27" name="Text 25"/>
          <p:cNvSpPr/>
          <p:nvPr/>
        </p:nvSpPr>
        <p:spPr>
          <a:xfrm>
            <a:off x="6426200" y="3743958"/>
            <a:ext cx="51015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4580F"/>
                </a:solidFill>
                <a:latin typeface="IBM Plex Sans" pitchFamily="34" charset="0"/>
                <a:ea typeface="IBM Plex Sans" pitchFamily="34" charset="-122"/>
                <a:cs typeface="IBM Plex Sans" pitchFamily="34" charset="-120"/>
              </a:rPr>
              <a:t>Un problème révélé</a:t>
            </a:r>
            <a:endParaRPr lang="en-US" sz="1500" dirty="0"/>
          </a:p>
        </p:txBody>
      </p:sp>
      <p:sp>
        <p:nvSpPr>
          <p:cNvPr id="28" name="Text 26"/>
          <p:cNvSpPr/>
          <p:nvPr/>
        </p:nvSpPr>
        <p:spPr>
          <a:xfrm>
            <a:off x="6426200" y="4023358"/>
            <a:ext cx="510159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Rappel par défaut : 0,607 ± 0,103, loin des 80 % demandés</a:t>
            </a:r>
            <a:endParaRPr lang="en-US" sz="1300" dirty="0"/>
          </a:p>
        </p:txBody>
      </p:sp>
      <p:sp>
        <p:nvSpPr>
          <p:cNvPr id="29" name="Text 2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MECHA IA — Soutenance MSPR TPRE822 · doc 04</a:t>
            </a:r>
            <a:endParaRPr lang="en-US" sz="1200" dirty="0"/>
          </a:p>
        </p:txBody>
      </p:sp>
      <p:sp>
        <p:nvSpPr>
          <p:cNvPr id="30" name="Text 2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9 / 17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892B"/>
                </a:solidFill>
                <a:latin typeface="IBM Plex Sans" pitchFamily="34" charset="0"/>
                <a:ea typeface="IBM Plex Sans" pitchFamily="34" charset="-122"/>
                <a:cs typeface="IBM Plex Sans" pitchFamily="34" charset="-120"/>
              </a:rPr>
              <a:t>09 · AJUSTER L’APPRENTISSAGE</a:t>
            </a:r>
            <a:endParaRPr lang="en-US" sz="1200" dirty="0"/>
          </a:p>
        </p:txBody>
      </p:sp>
      <p:sp>
        <p:nvSpPr>
          <p:cNvPr id="3" name="Text 1"/>
          <p:cNvSpPr/>
          <p:nvPr>
            <p:ph type="title"/>
          </p:nvPr>
        </p:nvSpPr>
        <p:spPr>
          <a:xfrm>
            <a:off x="812800" y="1102358"/>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6F5F1"/>
                </a:solidFill>
                <a:latin typeface="IBM Plex Sans" pitchFamily="34" charset="0"/>
                <a:ea typeface="IBM Plex Sans" pitchFamily="34" charset="-122"/>
                <a:cs typeface="IBM Plex Sans" pitchFamily="34" charset="-120"/>
              </a:rPr>
              <a:t>Abaisser le seuil de décision : les deux critères sont tenus</a:t>
            </a:r>
            <a:endParaRPr lang="en-US" sz="3200" dirty="0"/>
          </a:p>
        </p:txBody>
      </p:sp>
      <p:sp>
        <p:nvSpPr>
          <p:cNvPr id="4" name="Shape 2"/>
          <p:cNvSpPr/>
          <p:nvPr/>
        </p:nvSpPr>
        <p:spPr>
          <a:xfrm>
            <a:off x="812800" y="2352042"/>
            <a:ext cx="5130800" cy="1993900"/>
          </a:xfrm>
          <a:prstGeom prst="roundRect">
            <a:avLst>
              <a:gd name="adj" fmla="val 5096"/>
            </a:avLst>
          </a:prstGeom>
          <a:solidFill>
            <a:srgbClr val="1E2E52"/>
          </a:solidFill>
          <a:ln/>
        </p:spPr>
      </p:sp>
      <p:sp>
        <p:nvSpPr>
          <p:cNvPr id="5" name="Text 3"/>
          <p:cNvSpPr/>
          <p:nvPr/>
        </p:nvSpPr>
        <p:spPr>
          <a:xfrm>
            <a:off x="1066800" y="2606042"/>
            <a:ext cx="476148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2D6"/>
                </a:solidFill>
                <a:latin typeface="IBM Plex Sans" pitchFamily="34" charset="0"/>
                <a:ea typeface="IBM Plex Sans" pitchFamily="34" charset="-122"/>
                <a:cs typeface="IBM Plex Sans" pitchFamily="34" charset="-120"/>
              </a:rPr>
              <a:t>Pannes détectées (rappel)</a:t>
            </a:r>
            <a:endParaRPr lang="en-US" sz="1400" dirty="0"/>
          </a:p>
        </p:txBody>
      </p:sp>
      <p:sp>
        <p:nvSpPr>
          <p:cNvPr id="6" name="Text 4"/>
          <p:cNvSpPr/>
          <p:nvPr/>
        </p:nvSpPr>
        <p:spPr>
          <a:xfrm>
            <a:off x="1066800" y="2931158"/>
            <a:ext cx="4761484" cy="87884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E8892B"/>
                </a:solidFill>
                <a:latin typeface="JetBrains Mono" pitchFamily="49" charset="0"/>
                <a:ea typeface="JetBrains Mono" pitchFamily="49" charset="-122"/>
                <a:cs typeface="JetBrains Mono" pitchFamily="49" charset="-120"/>
              </a:rPr>
              <a:t>61 → 87 %</a:t>
            </a:r>
            <a:endParaRPr lang="en-US" sz="4800" dirty="0"/>
          </a:p>
        </p:txBody>
      </p:sp>
      <p:sp>
        <p:nvSpPr>
          <p:cNvPr id="7" name="Text 5"/>
          <p:cNvSpPr/>
          <p:nvPr/>
        </p:nvSpPr>
        <p:spPr>
          <a:xfrm>
            <a:off x="1066800" y="3860800"/>
            <a:ext cx="476148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2D6"/>
                </a:solidFill>
                <a:latin typeface="IBM Plex Sans" pitchFamily="34" charset="0"/>
                <a:ea typeface="IBM Plex Sans" pitchFamily="34" charset="-122"/>
                <a:cs typeface="IBM Plex Sans" pitchFamily="34" charset="-120"/>
              </a:rPr>
              <a:t>Cible ≥ 80 % : atteinte</a:t>
            </a:r>
            <a:endParaRPr lang="en-US" sz="1300" dirty="0"/>
          </a:p>
        </p:txBody>
      </p:sp>
      <p:sp>
        <p:nvSpPr>
          <p:cNvPr id="8" name="Shape 6"/>
          <p:cNvSpPr/>
          <p:nvPr/>
        </p:nvSpPr>
        <p:spPr>
          <a:xfrm>
            <a:off x="6248400" y="2352042"/>
            <a:ext cx="5130800" cy="1993900"/>
          </a:xfrm>
          <a:prstGeom prst="roundRect">
            <a:avLst>
              <a:gd name="adj" fmla="val 5096"/>
            </a:avLst>
          </a:prstGeom>
          <a:solidFill>
            <a:srgbClr val="1E2E52"/>
          </a:solidFill>
          <a:ln/>
        </p:spPr>
      </p:sp>
      <p:sp>
        <p:nvSpPr>
          <p:cNvPr id="9" name="Text 7"/>
          <p:cNvSpPr/>
          <p:nvPr/>
        </p:nvSpPr>
        <p:spPr>
          <a:xfrm>
            <a:off x="6502400" y="2606042"/>
            <a:ext cx="476148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2D6"/>
                </a:solidFill>
                <a:latin typeface="IBM Plex Sans" pitchFamily="34" charset="0"/>
                <a:ea typeface="IBM Plex Sans" pitchFamily="34" charset="-122"/>
                <a:cs typeface="IBM Plex Sans" pitchFamily="34" charset="-120"/>
              </a:rPr>
              <a:t>Faux positifs</a:t>
            </a:r>
            <a:endParaRPr lang="en-US" sz="1400" dirty="0"/>
          </a:p>
        </p:txBody>
      </p:sp>
      <p:sp>
        <p:nvSpPr>
          <p:cNvPr id="10" name="Text 8"/>
          <p:cNvSpPr/>
          <p:nvPr/>
        </p:nvSpPr>
        <p:spPr>
          <a:xfrm>
            <a:off x="6502400" y="2931158"/>
            <a:ext cx="4761484" cy="878840"/>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F6F5F1"/>
                </a:solidFill>
                <a:latin typeface="JetBrains Mono" pitchFamily="49" charset="0"/>
                <a:ea typeface="JetBrains Mono" pitchFamily="49" charset="-122"/>
                <a:cs typeface="JetBrains Mono" pitchFamily="49" charset="-120"/>
              </a:rPr>
              <a:t>4 → 9 %</a:t>
            </a:r>
            <a:endParaRPr lang="en-US" sz="4800" dirty="0"/>
          </a:p>
        </p:txBody>
      </p:sp>
      <p:sp>
        <p:nvSpPr>
          <p:cNvPr id="11" name="Text 9"/>
          <p:cNvSpPr/>
          <p:nvPr/>
        </p:nvSpPr>
        <p:spPr>
          <a:xfrm>
            <a:off x="6502400" y="3860800"/>
            <a:ext cx="476148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2D6"/>
                </a:solidFill>
                <a:latin typeface="IBM Plex Sans" pitchFamily="34" charset="0"/>
                <a:ea typeface="IBM Plex Sans" pitchFamily="34" charset="-122"/>
                <a:cs typeface="IBM Plex Sans" pitchFamily="34" charset="-120"/>
              </a:rPr>
              <a:t>Cible &lt; 15 % : atteinte</a:t>
            </a:r>
            <a:endParaRPr lang="en-US" sz="1300" dirty="0"/>
          </a:p>
        </p:txBody>
      </p:sp>
      <p:sp>
        <p:nvSpPr>
          <p:cNvPr id="12" name="Text 10"/>
          <p:cNvSpPr/>
          <p:nvPr/>
        </p:nvSpPr>
        <p:spPr>
          <a:xfrm>
            <a:off x="812800" y="4701542"/>
            <a:ext cx="1088339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B8C2D6"/>
                </a:solidFill>
                <a:latin typeface="IBM Plex Sans" pitchFamily="34" charset="0"/>
                <a:ea typeface="IBM Plex Sans" pitchFamily="34" charset="-122"/>
                <a:cs typeface="IBM Plex Sans" pitchFamily="34" charset="-120"/>
              </a:rPr>
              <a:t>« À risque » dès que P(à risque) ≥ 0,35. Seuil choisi sur les 40 machines d’apprentissage, mesuré sur 10 machines jamais vues. Contrepartie : 2 alertes « à risque » sur 3 sont fausses.</a:t>
            </a:r>
            <a:endParaRPr lang="en-US" sz="1500" dirty="0"/>
          </a:p>
        </p:txBody>
      </p:sp>
      <p:sp>
        <p:nvSpPr>
          <p:cNvPr id="13" name="Text 1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D6"/>
                </a:solidFill>
                <a:latin typeface="IBM Plex Sans" pitchFamily="34" charset="0"/>
                <a:ea typeface="IBM Plex Sans" pitchFamily="34" charset="-122"/>
                <a:cs typeface="IBM Plex Sans" pitchFamily="34" charset="-120"/>
              </a:rPr>
              <a:t>Logistic Regression, 10 machines de test · doc 04 §1.6</a:t>
            </a:r>
            <a:endParaRPr lang="en-US" sz="1200" dirty="0"/>
          </a:p>
        </p:txBody>
      </p:sp>
      <p:sp>
        <p:nvSpPr>
          <p:cNvPr id="14" name="Text 1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8C2D6"/>
                </a:solidFill>
                <a:latin typeface="IBM Plex Sans" pitchFamily="34" charset="0"/>
                <a:ea typeface="IBM Plex Sans" pitchFamily="34" charset="-122"/>
                <a:cs typeface="IBM Plex Sans" pitchFamily="34" charset="-120"/>
              </a:rPr>
              <a:t>10 / 17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80F"/>
                </a:solidFill>
                <a:latin typeface="IBM Plex Sans" pitchFamily="34" charset="0"/>
                <a:ea typeface="IBM Plex Sans" pitchFamily="34" charset="-122"/>
                <a:cs typeface="IBM Plex Sans" pitchFamily="34" charset="-120"/>
              </a:rPr>
              <a:t>10 · PROCÉDURE D’ENTRAÎNEMENT</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Lot aujourd’hui, mini-lot pour passer à l’échelle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900"/>
          <a:ext cx="6210300" cy="1797050"/>
        </p:xfrm>
        <a:graphic>
          <a:graphicData uri="http://schemas.openxmlformats.org/drawingml/2006/table">
            <a:tbl>
              <a:tblPr/>
              <a:tblGrid>
                <a:gridCol w="2484120"/>
                <a:gridCol w="1242060"/>
                <a:gridCol w="1242060"/>
                <a:gridCol w="1242060"/>
              </a:tblGrid>
              <a:tr h="359410">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Mode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Rappel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Précision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Temps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Lot (retenu)</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9BCAD"/>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BCAD"/>
                      </a:solidFill>
                      <a:prstDash val="solid"/>
                      <a:round/>
                      <a:headEnd type="none" w="med" len="med"/>
                      <a:tailEnd type="none" w="med" len="med"/>
                    </a:lnB>
                    <a:solidFill>
                      <a:srgbClr val="FCEBD9"/>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0,611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BCAD"/>
                      </a:solidFill>
                      <a:prstDash val="solid"/>
                      <a:round/>
                      <a:headEnd type="none" w="med" len="med"/>
                      <a:tailEnd type="none" w="med" len="med"/>
                    </a:lnL>
                    <a:lnR w="12700" cap="flat" cmpd="sng" algn="ctr">
                      <a:solidFill>
                        <a:srgbClr val="C9BCAD"/>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BCAD"/>
                      </a:solidFill>
                      <a:prstDash val="solid"/>
                      <a:round/>
                      <a:headEnd type="none" w="med" len="med"/>
                      <a:tailEnd type="none" w="med" len="med"/>
                    </a:lnB>
                    <a:solidFill>
                      <a:srgbClr val="FCEBD9"/>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0,433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BCAD"/>
                      </a:solidFill>
                      <a:prstDash val="solid"/>
                      <a:round/>
                      <a:headEnd type="none" w="med" len="med"/>
                      <a:tailEnd type="none" w="med" len="med"/>
                    </a:lnL>
                    <a:lnR w="12700" cap="flat" cmpd="sng" algn="ctr">
                      <a:solidFill>
                        <a:srgbClr val="C9BCAD"/>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BCAD"/>
                      </a:solidFill>
                      <a:prstDash val="solid"/>
                      <a:round/>
                      <a:headEnd type="none" w="med" len="med"/>
                      <a:tailEnd type="none" w="med" len="med"/>
                    </a:lnB>
                    <a:solidFill>
                      <a:srgbClr val="FCEBD9"/>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0,02 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BCAD"/>
                      </a:solidFill>
                      <a:prstDash val="solid"/>
                      <a:round/>
                      <a:headEnd type="none" w="med" len="med"/>
                      <a:tailEnd type="none" w="med" len="med"/>
                    </a:lnL>
                    <a:lnR w="12700" cap="flat" cmpd="sng" algn="ctr">
                      <a:solidFill>
                        <a:srgbClr val="C9BCAD"/>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9BCAD"/>
                      </a:solidFill>
                      <a:prstDash val="solid"/>
                      <a:round/>
                      <a:headEnd type="none" w="med" len="med"/>
                      <a:tailEnd type="none" w="med" len="med"/>
                    </a:lnB>
                    <a:solidFill>
                      <a:srgbClr val="FCEBD9"/>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Mini-lot (256 lignes)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9BCAD"/>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0,567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9BCAD"/>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0,331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9BCAD"/>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0,19 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9BCAD"/>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Online, mélangé</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0,356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0,234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6,3 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Online, ordre réel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0,511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0,245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algn="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6,2 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3765550"/>
            <a:ext cx="640969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Même modèle dans les trois modes : la régression logistique, optimisée par descente de gradient hors lot</a:t>
            </a:r>
            <a:endParaRPr lang="en-US" sz="1200" dirty="0"/>
          </a:p>
        </p:txBody>
      </p:sp>
      <p:sp>
        <p:nvSpPr>
          <p:cNvPr id="6" name="Shape 3"/>
          <p:cNvSpPr/>
          <p:nvPr/>
        </p:nvSpPr>
        <p:spPr>
          <a:xfrm>
            <a:off x="7343775" y="1857375"/>
            <a:ext cx="4032250" cy="1084157"/>
          </a:xfrm>
          <a:prstGeom prst="roundRect">
            <a:avLst>
              <a:gd name="adj" fmla="val 9078"/>
            </a:avLst>
          </a:prstGeom>
          <a:solidFill>
            <a:srgbClr val="FDFCFA"/>
          </a:solidFill>
          <a:ln w="6350">
            <a:solidFill>
              <a:srgbClr val="E2DFD8"/>
            </a:solidFill>
            <a:prstDash val="solid"/>
          </a:ln>
        </p:spPr>
      </p:sp>
      <p:sp>
        <p:nvSpPr>
          <p:cNvPr id="7" name="Text 4"/>
          <p:cNvSpPr/>
          <p:nvPr/>
        </p:nvSpPr>
        <p:spPr>
          <a:xfrm>
            <a:off x="7522633" y="2036235"/>
            <a:ext cx="378476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Taux d’apprentissage</a:t>
            </a:r>
            <a:endParaRPr lang="en-US" sz="1400" dirty="0"/>
          </a:p>
        </p:txBody>
      </p:sp>
      <p:sp>
        <p:nvSpPr>
          <p:cNvPr id="8" name="Text 5"/>
          <p:cNvSpPr/>
          <p:nvPr/>
        </p:nvSpPr>
        <p:spPr>
          <a:xfrm>
            <a:off x="7522633" y="2300393"/>
            <a:ext cx="378476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Trop faible : rappel 0,13. Bien réglé : 0,62. Le réglage décisif hors lot.</a:t>
            </a:r>
            <a:endParaRPr lang="en-US" sz="1300" dirty="0"/>
          </a:p>
        </p:txBody>
      </p:sp>
      <p:sp>
        <p:nvSpPr>
          <p:cNvPr id="9" name="Shape 6"/>
          <p:cNvSpPr/>
          <p:nvPr/>
        </p:nvSpPr>
        <p:spPr>
          <a:xfrm>
            <a:off x="7343775" y="3100282"/>
            <a:ext cx="4032250" cy="1315297"/>
          </a:xfrm>
          <a:prstGeom prst="roundRect">
            <a:avLst>
              <a:gd name="adj" fmla="val 7483"/>
            </a:avLst>
          </a:prstGeom>
          <a:solidFill>
            <a:srgbClr val="FDFCFA"/>
          </a:solidFill>
          <a:ln w="6350">
            <a:solidFill>
              <a:srgbClr val="E2DFD8"/>
            </a:solidFill>
            <a:prstDash val="solid"/>
          </a:ln>
        </p:spPr>
      </p:sp>
      <p:sp>
        <p:nvSpPr>
          <p:cNvPr id="10" name="Text 7"/>
          <p:cNvSpPr/>
          <p:nvPr/>
        </p:nvSpPr>
        <p:spPr>
          <a:xfrm>
            <a:off x="7522633" y="3279142"/>
            <a:ext cx="378476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Décision</a:t>
            </a:r>
            <a:endParaRPr lang="en-US" sz="1400" dirty="0"/>
          </a:p>
        </p:txBody>
      </p:sp>
      <p:sp>
        <p:nvSpPr>
          <p:cNvPr id="11" name="Text 8"/>
          <p:cNvSpPr/>
          <p:nvPr/>
        </p:nvSpPr>
        <p:spPr>
          <a:xfrm>
            <a:off x="7522633" y="3543300"/>
            <a:ext cx="378476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Lot, réentraînement mensuel. Mini-lot dès que l’historique dépasse la mémoire (~14 M points/jour).</a:t>
            </a:r>
            <a:endParaRPr lang="en-US" sz="1300" dirty="0"/>
          </a:p>
        </p:txBody>
      </p:sp>
      <p:sp>
        <p:nvSpPr>
          <p:cNvPr id="12" name="Text 9"/>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Règle de décision par défaut, 10 machines de test · doc 04</a:t>
            </a:r>
            <a:endParaRPr lang="en-US" sz="1200" dirty="0"/>
          </a:p>
        </p:txBody>
      </p:sp>
      <p:sp>
        <p:nvSpPr>
          <p:cNvPr id="13" name="Text 1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11 / 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80F"/>
                </a:solidFill>
                <a:latin typeface="IBM Plex Sans" pitchFamily="34" charset="0"/>
                <a:ea typeface="IBM Plex Sans" pitchFamily="34" charset="-122"/>
                <a:cs typeface="IBM Plex Sans" pitchFamily="34" charset="-120"/>
              </a:rPr>
              <a:t>11 · SOLUTION APPLICATIVE</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Du modèle à l’alerte, en quatre composants</a:t>
            </a:r>
            <a:endParaRPr lang="en-US" sz="3200" dirty="0"/>
          </a:p>
        </p:txBody>
      </p:sp>
      <p:sp>
        <p:nvSpPr>
          <p:cNvPr id="4" name="Text 2"/>
          <p:cNvSpPr/>
          <p:nvPr/>
        </p:nvSpPr>
        <p:spPr>
          <a:xfrm>
            <a:off x="819150" y="1835150"/>
            <a:ext cx="2209800" cy="515620"/>
          </a:xfrm>
          <a:prstGeom prst="roundRect">
            <a:avLst>
              <a:gd name="adj" fmla="val 13547"/>
            </a:avLst>
          </a:prstGeom>
          <a:solidFill>
            <a:srgbClr val="E3F2EC"/>
          </a:solidFill>
          <a:ln w="12700">
            <a:solidFill>
              <a:srgbClr val="2A7A5C"/>
            </a:solidFill>
            <a:prstDash val="solid"/>
          </a:ln>
        </p:spPr>
        <p:txBody>
          <a:bodyPr wrap="square" lIns="83745" tIns="112892" rIns="83745" bIns="87492" rtlCol="0" anchor="t">
            <a:normAutofit/>
          </a:bodyPr>
          <a:lstStyle/>
          <a:p>
            <a:pPr algn="ctr" indent="0" marL="0">
              <a:lnSpc>
                <a:spcPts val="1960"/>
              </a:lnSpc>
              <a:buNone/>
            </a:pPr>
            <a:r>
              <a:rPr lang="en-US" sz="1400" b="1" dirty="0">
                <a:solidFill>
                  <a:srgbClr val="1F5C45"/>
                </a:solidFill>
                <a:latin typeface="IBM Plex Sans" pitchFamily="34" charset="0"/>
                <a:ea typeface="IBM Plex Sans" pitchFamily="34" charset="-122"/>
                <a:cs typeface="IBM Plex Sans" pitchFamily="34" charset="-120"/>
              </a:rPr>
              <a:t>Pipeline</a:t>
            </a:r>
            <a:endParaRPr lang="en-US" sz="1400" dirty="0"/>
          </a:p>
        </p:txBody>
      </p:sp>
      <p:pic>
        <p:nvPicPr>
          <p:cNvPr id="5" name="Image 0" descr="arrow-right">    </p:cNvPr>
          <p:cNvPicPr>
            <a:picLocks noChangeAspect="1"/>
          </p:cNvPicPr>
          <p:nvPr/>
        </p:nvPicPr>
        <p:blipFill>
          <a:blip r:embed="rId1"/>
          <a:srcRect l="0" r="0" t="0" b="0"/>
          <a:stretch/>
        </p:blipFill>
        <p:spPr>
          <a:xfrm>
            <a:off x="3136900" y="2004058"/>
            <a:ext cx="355600" cy="177800"/>
          </a:xfrm>
          <a:prstGeom prst="rect">
            <a:avLst/>
          </a:prstGeom>
        </p:spPr>
      </p:pic>
      <p:sp>
        <p:nvSpPr>
          <p:cNvPr id="6" name="Text 3"/>
          <p:cNvSpPr/>
          <p:nvPr/>
        </p:nvSpPr>
        <p:spPr>
          <a:xfrm>
            <a:off x="3600450" y="1835150"/>
            <a:ext cx="2209800" cy="515620"/>
          </a:xfrm>
          <a:prstGeom prst="roundRect">
            <a:avLst>
              <a:gd name="adj" fmla="val 13547"/>
            </a:avLst>
          </a:prstGeom>
          <a:solidFill>
            <a:srgbClr val="FDF0E2"/>
          </a:solidFill>
          <a:ln w="12700">
            <a:solidFill>
              <a:srgbClr val="B4580F"/>
            </a:solidFill>
            <a:prstDash val="solid"/>
          </a:ln>
        </p:spPr>
        <p:txBody>
          <a:bodyPr wrap="square" lIns="83745" tIns="112892" rIns="83745" bIns="87492" rtlCol="0" anchor="t">
            <a:normAutofit/>
          </a:bodyPr>
          <a:lstStyle/>
          <a:p>
            <a:pPr algn="ctr" indent="0" marL="0">
              <a:lnSpc>
                <a:spcPts val="1960"/>
              </a:lnSpc>
              <a:buNone/>
            </a:pPr>
            <a:r>
              <a:rPr lang="en-US" sz="1400" b="1" dirty="0">
                <a:solidFill>
                  <a:srgbClr val="8A430B"/>
                </a:solidFill>
                <a:latin typeface="IBM Plex Sans" pitchFamily="34" charset="0"/>
                <a:ea typeface="IBM Plex Sans" pitchFamily="34" charset="-122"/>
                <a:cs typeface="IBM Plex Sans" pitchFamily="34" charset="-120"/>
              </a:rPr>
              <a:t>API FastAPI</a:t>
            </a:r>
            <a:endParaRPr lang="en-US" sz="1400" dirty="0"/>
          </a:p>
        </p:txBody>
      </p:sp>
      <p:pic>
        <p:nvPicPr>
          <p:cNvPr id="7" name="Image 1" descr="arrow-right">    </p:cNvPr>
          <p:cNvPicPr>
            <a:picLocks noChangeAspect="1"/>
          </p:cNvPicPr>
          <p:nvPr/>
        </p:nvPicPr>
        <p:blipFill>
          <a:blip r:embed="rId2"/>
          <a:srcRect l="0" r="0" t="0" b="0"/>
          <a:stretch/>
        </p:blipFill>
        <p:spPr>
          <a:xfrm>
            <a:off x="5918200" y="2004058"/>
            <a:ext cx="355600" cy="177800"/>
          </a:xfrm>
          <a:prstGeom prst="rect">
            <a:avLst/>
          </a:prstGeom>
        </p:spPr>
      </p:pic>
      <p:sp>
        <p:nvSpPr>
          <p:cNvPr id="8" name="Text 4"/>
          <p:cNvSpPr/>
          <p:nvPr/>
        </p:nvSpPr>
        <p:spPr>
          <a:xfrm>
            <a:off x="6381750" y="1835150"/>
            <a:ext cx="2209800" cy="515620"/>
          </a:xfrm>
          <a:prstGeom prst="roundRect">
            <a:avLst>
              <a:gd name="adj" fmla="val 13547"/>
            </a:avLst>
          </a:prstGeom>
          <a:solidFill>
            <a:srgbClr val="E4EEFC"/>
          </a:solidFill>
          <a:ln w="12700">
            <a:solidFill>
              <a:srgbClr val="2B5AA8"/>
            </a:solidFill>
            <a:prstDash val="solid"/>
          </a:ln>
        </p:spPr>
        <p:txBody>
          <a:bodyPr wrap="square" lIns="83745" tIns="112892" rIns="83745" bIns="87492" rtlCol="0" anchor="t">
            <a:normAutofit/>
          </a:bodyPr>
          <a:lstStyle/>
          <a:p>
            <a:pPr algn="ctr" indent="0" marL="0">
              <a:lnSpc>
                <a:spcPts val="1960"/>
              </a:lnSpc>
              <a:buNone/>
            </a:pPr>
            <a:r>
              <a:rPr lang="en-US" sz="1400" b="1" dirty="0">
                <a:solidFill>
                  <a:srgbClr val="1F4685"/>
                </a:solidFill>
                <a:latin typeface="IBM Plex Sans" pitchFamily="34" charset="0"/>
                <a:ea typeface="IBM Plex Sans" pitchFamily="34" charset="-122"/>
                <a:cs typeface="IBM Plex Sans" pitchFamily="34" charset="-120"/>
              </a:rPr>
              <a:t>PostgreSQL</a:t>
            </a:r>
            <a:endParaRPr lang="en-US" sz="1400" dirty="0"/>
          </a:p>
        </p:txBody>
      </p:sp>
      <p:pic>
        <p:nvPicPr>
          <p:cNvPr id="9" name="Image 2" descr="arrow-right">    </p:cNvPr>
          <p:cNvPicPr>
            <a:picLocks noChangeAspect="1"/>
          </p:cNvPicPr>
          <p:nvPr/>
        </p:nvPicPr>
        <p:blipFill>
          <a:blip r:embed="rId3"/>
          <a:srcRect l="0" r="0" t="0" b="0"/>
          <a:stretch/>
        </p:blipFill>
        <p:spPr>
          <a:xfrm>
            <a:off x="8699500" y="2004058"/>
            <a:ext cx="355600" cy="177800"/>
          </a:xfrm>
          <a:prstGeom prst="rect">
            <a:avLst/>
          </a:prstGeom>
        </p:spPr>
      </p:pic>
      <p:sp>
        <p:nvSpPr>
          <p:cNvPr id="10" name="Text 5"/>
          <p:cNvSpPr/>
          <p:nvPr/>
        </p:nvSpPr>
        <p:spPr>
          <a:xfrm>
            <a:off x="9163050" y="1835150"/>
            <a:ext cx="2209800" cy="515620"/>
          </a:xfrm>
          <a:prstGeom prst="roundRect">
            <a:avLst>
              <a:gd name="adj" fmla="val 13547"/>
            </a:avLst>
          </a:prstGeom>
          <a:solidFill>
            <a:srgbClr val="E6F2DA"/>
          </a:solidFill>
          <a:ln w="12700">
            <a:solidFill>
              <a:srgbClr val="4C8A1F"/>
            </a:solidFill>
            <a:prstDash val="solid"/>
          </a:ln>
        </p:spPr>
        <p:txBody>
          <a:bodyPr wrap="square" lIns="83745" tIns="112892" rIns="83745" bIns="87492" rtlCol="0" anchor="t">
            <a:normAutofit/>
          </a:bodyPr>
          <a:lstStyle/>
          <a:p>
            <a:pPr algn="ctr" indent="0" marL="0">
              <a:lnSpc>
                <a:spcPts val="1960"/>
              </a:lnSpc>
              <a:buNone/>
            </a:pPr>
            <a:r>
              <a:rPr lang="en-US" sz="1400" b="1" dirty="0">
                <a:solidFill>
                  <a:srgbClr val="3A6A17"/>
                </a:solidFill>
                <a:latin typeface="IBM Plex Sans" pitchFamily="34" charset="0"/>
                <a:ea typeface="IBM Plex Sans" pitchFamily="34" charset="-122"/>
                <a:cs typeface="IBM Plex Sans" pitchFamily="34" charset="-120"/>
              </a:rPr>
              <a:t>Grafana</a:t>
            </a:r>
            <a:endParaRPr lang="en-US" sz="1400" dirty="0"/>
          </a:p>
        </p:txBody>
      </p:sp>
      <p:sp>
        <p:nvSpPr>
          <p:cNvPr id="11" name="Text 6"/>
          <p:cNvSpPr/>
          <p:nvPr/>
        </p:nvSpPr>
        <p:spPr>
          <a:xfrm>
            <a:off x="812800" y="2636521"/>
            <a:ext cx="5232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Règles d’alerte, décidées par le RUL</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25500" y="2979421"/>
          <a:ext cx="5067300" cy="1437640"/>
        </p:xfrm>
        <a:graphic>
          <a:graphicData uri="http://schemas.openxmlformats.org/drawingml/2006/table">
            <a:tbl>
              <a:tblPr/>
              <a:tblGrid>
                <a:gridCol w="1722882"/>
                <a:gridCol w="1520190"/>
                <a:gridCol w="1824228"/>
              </a:tblGrid>
              <a:tr h="359410">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RUL prédit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Alerte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Action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 4 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B4580F"/>
                          </a:solidFill>
                          <a:latin typeface="IBM Plex Sans" pitchFamily="34" charset="0"/>
                          <a:ea typeface="IBM Plex Sans" pitchFamily="34" charset="-122"/>
                          <a:cs typeface="IBM Plex Sans" pitchFamily="34" charset="-120"/>
                        </a:rPr>
                        <a:t>Critique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Avant fin de poste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5 à 8 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indent="0" marL="0">
                        <a:lnSpc>
                          <a:spcPts val="1820"/>
                        </a:lnSpc>
                        <a:buNone/>
                      </a:pPr>
                      <a:r>
                        <a:rPr lang="en-US" sz="1300" dirty="0">
                          <a:solidFill>
                            <a:srgbClr val="B4580F"/>
                          </a:solidFill>
                          <a:latin typeface="IBM Plex Sans" pitchFamily="34" charset="0"/>
                          <a:ea typeface="IBM Plex Sans" pitchFamily="34" charset="-122"/>
                          <a:cs typeface="IBM Plex Sans" pitchFamily="34" charset="-120"/>
                        </a:rPr>
                        <a:t>Urgent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À planifier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9 à 24 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À surveiller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Prochain tour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13" name="Text 7"/>
          <p:cNvSpPr/>
          <p:nvPr/>
        </p:nvSpPr>
        <p:spPr>
          <a:xfrm>
            <a:off x="6197600" y="2636521"/>
            <a:ext cx="53370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Paramétrage versionné</a:t>
            </a:r>
            <a:endParaRPr lang="en-US" sz="1500" dirty="0"/>
          </a:p>
        </p:txBody>
      </p:sp>
      <p:sp>
        <p:nvSpPr>
          <p:cNvPr id="14" name="Text 8"/>
          <p:cNvSpPr/>
          <p:nvPr/>
        </p:nvSpPr>
        <p:spPr>
          <a:xfrm>
            <a:off x="6282944" y="2966721"/>
            <a:ext cx="5244084" cy="982980"/>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SQL : requêtes des dashboards</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YAML : provisioning Grafana</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JSON : contrat modèle → pipeline</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Rafraîchissement : 1 min (atelier), 5 min (direction)</a:t>
            </a:r>
            <a:endParaRPr lang="en-US" sz="1300" dirty="0"/>
          </a:p>
        </p:txBody>
      </p:sp>
      <p:sp>
        <p:nvSpPr>
          <p:cNvPr id="15" name="Text 9"/>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MECHA IA — Soutenance MSPR TPRE822 · doc 03</a:t>
            </a:r>
            <a:endParaRPr lang="en-US" sz="1200" dirty="0"/>
          </a:p>
        </p:txBody>
      </p:sp>
      <p:sp>
        <p:nvSpPr>
          <p:cNvPr id="16" name="Text 1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12 / 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80F"/>
                </a:solidFill>
                <a:latin typeface="IBM Plex Sans" pitchFamily="34" charset="0"/>
                <a:ea typeface="IBM Plex Sans" pitchFamily="34" charset="-122"/>
                <a:cs typeface="IBM Plex Sans" pitchFamily="34" charset="-120"/>
              </a:rPr>
              <a:t>12 · ÉCRANS MÉTIERS</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Un écran par métier, consulté en début de poste</a:t>
            </a:r>
            <a:endParaRPr lang="en-US" sz="3200" dirty="0"/>
          </a:p>
        </p:txBody>
      </p:sp>
      <p:sp>
        <p:nvSpPr>
          <p:cNvPr id="4" name="Shape 2"/>
          <p:cNvSpPr/>
          <p:nvPr/>
        </p:nvSpPr>
        <p:spPr>
          <a:xfrm>
            <a:off x="815975" y="1857375"/>
            <a:ext cx="5200650" cy="1150197"/>
          </a:xfrm>
          <a:prstGeom prst="roundRect">
            <a:avLst>
              <a:gd name="adj" fmla="val 8557"/>
            </a:avLst>
          </a:prstGeom>
          <a:solidFill>
            <a:srgbClr val="FDFCFA"/>
          </a:solidFill>
          <a:ln w="6350">
            <a:solidFill>
              <a:srgbClr val="E2DFD8"/>
            </a:solidFill>
            <a:prstDash val="solid"/>
          </a:ln>
        </p:spPr>
      </p:sp>
      <p:pic>
        <p:nvPicPr>
          <p:cNvPr id="5" name="Image 0" descr="Wrench">    </p:cNvPr>
          <p:cNvPicPr>
            <a:picLocks noChangeAspect="1"/>
          </p:cNvPicPr>
          <p:nvPr/>
        </p:nvPicPr>
        <p:blipFill>
          <a:blip r:embed="rId1"/>
          <a:srcRect l="0" r="0" t="0" b="0"/>
          <a:stretch/>
        </p:blipFill>
        <p:spPr>
          <a:xfrm>
            <a:off x="1020233" y="2061635"/>
            <a:ext cx="355600" cy="355600"/>
          </a:xfrm>
          <a:prstGeom prst="rect">
            <a:avLst/>
          </a:prstGeom>
        </p:spPr>
      </p:pic>
      <p:sp>
        <p:nvSpPr>
          <p:cNvPr id="6" name="Text 3"/>
          <p:cNvSpPr/>
          <p:nvPr/>
        </p:nvSpPr>
        <p:spPr>
          <a:xfrm>
            <a:off x="1528233" y="2061635"/>
            <a:ext cx="441265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Technicien</a:t>
            </a:r>
            <a:endParaRPr lang="en-US" sz="1500" dirty="0"/>
          </a:p>
        </p:txBody>
      </p:sp>
      <p:sp>
        <p:nvSpPr>
          <p:cNvPr id="7" name="Text 4"/>
          <p:cNvSpPr/>
          <p:nvPr/>
        </p:nvSpPr>
        <p:spPr>
          <a:xfrm>
            <a:off x="1528233" y="2341035"/>
            <a:ext cx="441265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Machines à intervenir, triées par RUL, avec le capteur à inspecter en premier</a:t>
            </a:r>
            <a:endParaRPr lang="en-US" sz="1300" dirty="0"/>
          </a:p>
        </p:txBody>
      </p:sp>
      <p:sp>
        <p:nvSpPr>
          <p:cNvPr id="8" name="Shape 5"/>
          <p:cNvSpPr/>
          <p:nvPr/>
        </p:nvSpPr>
        <p:spPr>
          <a:xfrm>
            <a:off x="6175375" y="1857375"/>
            <a:ext cx="5200650" cy="1150197"/>
          </a:xfrm>
          <a:prstGeom prst="roundRect">
            <a:avLst>
              <a:gd name="adj" fmla="val 8557"/>
            </a:avLst>
          </a:prstGeom>
          <a:solidFill>
            <a:srgbClr val="FDFCFA"/>
          </a:solidFill>
          <a:ln w="6350">
            <a:solidFill>
              <a:srgbClr val="E2DFD8"/>
            </a:solidFill>
            <a:prstDash val="solid"/>
          </a:ln>
        </p:spPr>
      </p:sp>
      <p:pic>
        <p:nvPicPr>
          <p:cNvPr id="9" name="Image 1" descr="Activity">    </p:cNvPr>
          <p:cNvPicPr>
            <a:picLocks noChangeAspect="1"/>
          </p:cNvPicPr>
          <p:nvPr/>
        </p:nvPicPr>
        <p:blipFill>
          <a:blip r:embed="rId2"/>
          <a:srcRect l="0" r="0" t="0" b="0"/>
          <a:stretch/>
        </p:blipFill>
        <p:spPr>
          <a:xfrm>
            <a:off x="6379633" y="2061635"/>
            <a:ext cx="355600" cy="355600"/>
          </a:xfrm>
          <a:prstGeom prst="rect">
            <a:avLst/>
          </a:prstGeom>
        </p:spPr>
      </p:pic>
      <p:sp>
        <p:nvSpPr>
          <p:cNvPr id="10" name="Text 6"/>
          <p:cNvSpPr/>
          <p:nvPr/>
        </p:nvSpPr>
        <p:spPr>
          <a:xfrm>
            <a:off x="6887633" y="2061635"/>
            <a:ext cx="441265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Instrumentation</a:t>
            </a:r>
            <a:endParaRPr lang="en-US" sz="1500" dirty="0"/>
          </a:p>
        </p:txBody>
      </p:sp>
      <p:sp>
        <p:nvSpPr>
          <p:cNvPr id="11" name="Text 7"/>
          <p:cNvSpPr/>
          <p:nvPr/>
        </p:nvSpPr>
        <p:spPr>
          <a:xfrm>
            <a:off x="6887633" y="2341035"/>
            <a:ext cx="441265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Alertes capteur : un défaut de mesure, pas une panne mécanique</a:t>
            </a:r>
            <a:endParaRPr lang="en-US" sz="1300" dirty="0"/>
          </a:p>
        </p:txBody>
      </p:sp>
      <p:sp>
        <p:nvSpPr>
          <p:cNvPr id="12" name="Shape 8"/>
          <p:cNvSpPr/>
          <p:nvPr/>
        </p:nvSpPr>
        <p:spPr>
          <a:xfrm>
            <a:off x="815975" y="3166325"/>
            <a:ext cx="5200650" cy="1150197"/>
          </a:xfrm>
          <a:prstGeom prst="roundRect">
            <a:avLst>
              <a:gd name="adj" fmla="val 8557"/>
            </a:avLst>
          </a:prstGeom>
          <a:solidFill>
            <a:srgbClr val="FDFCFA"/>
          </a:solidFill>
          <a:ln w="6350">
            <a:solidFill>
              <a:srgbClr val="E2DFD8"/>
            </a:solidFill>
            <a:prstDash val="solid"/>
          </a:ln>
        </p:spPr>
      </p:sp>
      <p:pic>
        <p:nvPicPr>
          <p:cNvPr id="13" name="Image 2" descr="Chart">    </p:cNvPr>
          <p:cNvPicPr>
            <a:picLocks noChangeAspect="1"/>
          </p:cNvPicPr>
          <p:nvPr/>
        </p:nvPicPr>
        <p:blipFill>
          <a:blip r:embed="rId3"/>
          <a:srcRect l="0" r="0" t="0" b="0"/>
          <a:stretch/>
        </p:blipFill>
        <p:spPr>
          <a:xfrm>
            <a:off x="1020233" y="3370579"/>
            <a:ext cx="355600" cy="355600"/>
          </a:xfrm>
          <a:prstGeom prst="rect">
            <a:avLst/>
          </a:prstGeom>
        </p:spPr>
      </p:pic>
      <p:sp>
        <p:nvSpPr>
          <p:cNvPr id="14" name="Text 9"/>
          <p:cNvSpPr/>
          <p:nvPr/>
        </p:nvSpPr>
        <p:spPr>
          <a:xfrm>
            <a:off x="1528233" y="3370579"/>
            <a:ext cx="441265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Responsable maintenance</a:t>
            </a:r>
            <a:endParaRPr lang="en-US" sz="1500" dirty="0"/>
          </a:p>
        </p:txBody>
      </p:sp>
      <p:sp>
        <p:nvSpPr>
          <p:cNvPr id="15" name="Text 10"/>
          <p:cNvSpPr/>
          <p:nvPr/>
        </p:nvSpPr>
        <p:spPr>
          <a:xfrm>
            <a:off x="1528233" y="3649979"/>
            <a:ext cx="441265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État du parc et tendance sur 7 jours, pour planifier la charge</a:t>
            </a:r>
            <a:endParaRPr lang="en-US" sz="1300" dirty="0"/>
          </a:p>
        </p:txBody>
      </p:sp>
      <p:sp>
        <p:nvSpPr>
          <p:cNvPr id="16" name="Shape 11"/>
          <p:cNvSpPr/>
          <p:nvPr/>
        </p:nvSpPr>
        <p:spPr>
          <a:xfrm>
            <a:off x="6175375" y="3166325"/>
            <a:ext cx="5200650" cy="1150197"/>
          </a:xfrm>
          <a:prstGeom prst="roundRect">
            <a:avLst>
              <a:gd name="adj" fmla="val 8557"/>
            </a:avLst>
          </a:prstGeom>
          <a:solidFill>
            <a:srgbClr val="FDFCFA"/>
          </a:solidFill>
          <a:ln w="6350">
            <a:solidFill>
              <a:srgbClr val="E2DFD8"/>
            </a:solidFill>
            <a:prstDash val="solid"/>
          </a:ln>
        </p:spPr>
      </p:sp>
      <p:pic>
        <p:nvPicPr>
          <p:cNvPr id="17" name="Image 3" descr="Globe">    </p:cNvPr>
          <p:cNvPicPr>
            <a:picLocks noChangeAspect="1"/>
          </p:cNvPicPr>
          <p:nvPr/>
        </p:nvPicPr>
        <p:blipFill>
          <a:blip r:embed="rId4"/>
          <a:srcRect l="0" r="0" t="0" b="0"/>
          <a:stretch/>
        </p:blipFill>
        <p:spPr>
          <a:xfrm>
            <a:off x="6379633" y="3370579"/>
            <a:ext cx="355600" cy="355600"/>
          </a:xfrm>
          <a:prstGeom prst="rect">
            <a:avLst/>
          </a:prstGeom>
        </p:spPr>
      </p:pic>
      <p:sp>
        <p:nvSpPr>
          <p:cNvPr id="18" name="Text 12"/>
          <p:cNvSpPr/>
          <p:nvPr/>
        </p:nvSpPr>
        <p:spPr>
          <a:xfrm>
            <a:off x="6887633" y="3370579"/>
            <a:ext cx="441265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Direction industrielle</a:t>
            </a:r>
            <a:endParaRPr lang="en-US" sz="1500" dirty="0"/>
          </a:p>
        </p:txBody>
      </p:sp>
      <p:sp>
        <p:nvSpPr>
          <p:cNvPr id="19" name="Text 13"/>
          <p:cNvSpPr/>
          <p:nvPr/>
        </p:nvSpPr>
        <p:spPr>
          <a:xfrm>
            <a:off x="6887633" y="3649979"/>
            <a:ext cx="441265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Pilotage multi-sites : les 5 usines comparées sur un seul écran</a:t>
            </a:r>
            <a:endParaRPr lang="en-US" sz="1300" dirty="0"/>
          </a:p>
        </p:txBody>
      </p:sp>
      <p:sp>
        <p:nvSpPr>
          <p:cNvPr id="20" name="Text 14"/>
          <p:cNvSpPr/>
          <p:nvPr/>
        </p:nvSpPr>
        <p:spPr>
          <a:xfrm>
            <a:off x="812800" y="4624493"/>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Guide utilisateur d’une page (doc 05) : ce que fait l’outil, comment lire le RUL, ses limites.</a:t>
            </a:r>
            <a:endParaRPr lang="en-US" sz="1300" dirty="0"/>
          </a:p>
        </p:txBody>
      </p:sp>
      <p:sp>
        <p:nvSpPr>
          <p:cNvPr id="21" name="Text 1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Dashboards Grafana provisionnés · docs 03 et 05</a:t>
            </a:r>
            <a:endParaRPr lang="en-US" sz="1200" dirty="0"/>
          </a:p>
        </p:txBody>
      </p:sp>
      <p:sp>
        <p:nvSpPr>
          <p:cNvPr id="22"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13 / 17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80F"/>
                </a:solidFill>
                <a:latin typeface="IBM Plex Sans" pitchFamily="34" charset="0"/>
                <a:ea typeface="IBM Plex Sans" pitchFamily="34" charset="-122"/>
                <a:cs typeface="IBM Plex Sans" pitchFamily="34" charset="-120"/>
              </a:rPr>
              <a:t>13 · INFRASTRUCTURE</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Conteneurisée, testée, vérifiée de bout en bout</a:t>
            </a:r>
            <a:endParaRPr lang="en-US" sz="3200" dirty="0"/>
          </a:p>
        </p:txBody>
      </p:sp>
      <p:sp>
        <p:nvSpPr>
          <p:cNvPr id="4" name="Text 2"/>
          <p:cNvSpPr/>
          <p:nvPr/>
        </p:nvSpPr>
        <p:spPr>
          <a:xfrm>
            <a:off x="812800" y="1854200"/>
            <a:ext cx="49707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Services docker compose</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97100"/>
          <a:ext cx="4813300" cy="2515870"/>
        </p:xfrm>
        <a:graphic>
          <a:graphicData uri="http://schemas.openxmlformats.org/drawingml/2006/table">
            <a:tbl>
              <a:tblPr/>
              <a:tblGrid>
                <a:gridCol w="1925320"/>
                <a:gridCol w="2887980"/>
              </a:tblGrid>
              <a:tr h="359410">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Service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Rôle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InfluxDB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Données capteurs brutes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PostgreSQL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Prédictions et alertes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API FastAPI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Exposition des résultats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Grafana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Dashboards atelier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Metabase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Tableaux de bord direction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FBDB8"/>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410">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Pipeline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c>
                  <a:txBody>
                    <a:bodyPr/>
                    <a:lstStyle/>
                    <a:p>
                      <a:pPr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Ingestion et inférence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FBDB8"/>
                      </a:solidFill>
                      <a:prstDash val="solid"/>
                      <a:round/>
                      <a:headEnd type="none" w="med" len="med"/>
                      <a:tailEnd type="none" w="med" len="med"/>
                    </a:lnL>
                    <a:lnR w="12700" cap="flat" cmpd="sng" algn="ctr">
                      <a:solidFill>
                        <a:srgbClr val="BFBDB8"/>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FBDB8"/>
                      </a:solidFill>
                      <a:prstDash val="solid"/>
                      <a:round/>
                      <a:headEnd type="none" w="med" len="med"/>
                      <a:tailEnd type="none" w="med" len="med"/>
                    </a:lnB>
                    <a:solidFill>
                      <a:srgbClr val="EFEDE7"/>
                    </a:solidFill>
                  </a:tcPr>
                </a:tc>
              </a:tr>
            </a:tbl>
          </a:graphicData>
        </a:graphic>
      </p:graphicFrame>
      <p:sp>
        <p:nvSpPr>
          <p:cNvPr id="6" name="Shape 3"/>
          <p:cNvSpPr/>
          <p:nvPr/>
        </p:nvSpPr>
        <p:spPr>
          <a:xfrm>
            <a:off x="5946775" y="1857375"/>
            <a:ext cx="5429250" cy="1084157"/>
          </a:xfrm>
          <a:prstGeom prst="roundRect">
            <a:avLst>
              <a:gd name="adj" fmla="val 9078"/>
            </a:avLst>
          </a:prstGeom>
          <a:solidFill>
            <a:srgbClr val="FDFCFA"/>
          </a:solidFill>
          <a:ln w="6350">
            <a:solidFill>
              <a:srgbClr val="E2DFD8"/>
            </a:solidFill>
            <a:prstDash val="solid"/>
          </a:ln>
        </p:spPr>
      </p:sp>
      <p:sp>
        <p:nvSpPr>
          <p:cNvPr id="7" name="Text 4"/>
          <p:cNvSpPr/>
          <p:nvPr/>
        </p:nvSpPr>
        <p:spPr>
          <a:xfrm>
            <a:off x="6125633" y="2036235"/>
            <a:ext cx="5223679"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CI GitHub Actions</a:t>
            </a:r>
            <a:endParaRPr lang="en-US" sz="1400" dirty="0"/>
          </a:p>
        </p:txBody>
      </p:sp>
      <p:sp>
        <p:nvSpPr>
          <p:cNvPr id="8" name="Text 5"/>
          <p:cNvSpPr/>
          <p:nvPr/>
        </p:nvSpPr>
        <p:spPr>
          <a:xfrm>
            <a:off x="6125633" y="2300393"/>
            <a:ext cx="522367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À chaque push : lint → 51 tests → build des 2 images → publication sur GHCR</a:t>
            </a:r>
            <a:endParaRPr lang="en-US" sz="1300" dirty="0"/>
          </a:p>
        </p:txBody>
      </p:sp>
      <p:sp>
        <p:nvSpPr>
          <p:cNvPr id="9" name="Shape 6"/>
          <p:cNvSpPr/>
          <p:nvPr/>
        </p:nvSpPr>
        <p:spPr>
          <a:xfrm>
            <a:off x="5943600" y="3097107"/>
            <a:ext cx="5435600" cy="1082040"/>
          </a:xfrm>
          <a:prstGeom prst="roundRect">
            <a:avLst>
              <a:gd name="adj" fmla="val 9390"/>
            </a:avLst>
          </a:prstGeom>
          <a:solidFill>
            <a:srgbClr val="E9EEF6"/>
          </a:solidFill>
          <a:ln/>
        </p:spPr>
      </p:sp>
      <p:sp>
        <p:nvSpPr>
          <p:cNvPr id="10" name="Text 7"/>
          <p:cNvSpPr/>
          <p:nvPr/>
        </p:nvSpPr>
        <p:spPr>
          <a:xfrm>
            <a:off x="6121400" y="3274907"/>
            <a:ext cx="5232400"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Test de bout en bout</a:t>
            </a:r>
            <a:endParaRPr lang="en-US" sz="1400" dirty="0"/>
          </a:p>
        </p:txBody>
      </p:sp>
      <p:sp>
        <p:nvSpPr>
          <p:cNvPr id="11" name="Text 8"/>
          <p:cNvSpPr/>
          <p:nvPr/>
        </p:nvSpPr>
        <p:spPr>
          <a:xfrm>
            <a:off x="6121400" y="3539065"/>
            <a:ext cx="52324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B4556"/>
                </a:solidFill>
                <a:latin typeface="IBM Plex Sans" pitchFamily="34" charset="0"/>
                <a:ea typeface="IBM Plex Sans" pitchFamily="34" charset="-122"/>
                <a:cs typeface="IBM Plex Sans" pitchFamily="34" charset="-120"/>
              </a:rPr>
              <a:t>9 200 points rejoués → 50 prédictions → 30 alertes, dont 6 critiques → 11 requêtes Grafana sans erreur</a:t>
            </a:r>
            <a:endParaRPr lang="en-US" sz="1300" dirty="0"/>
          </a:p>
        </p:txBody>
      </p:sp>
      <p:sp>
        <p:nvSpPr>
          <p:cNvPr id="12" name="Text 9"/>
          <p:cNvSpPr/>
          <p:nvPr/>
        </p:nvSpPr>
        <p:spPr>
          <a:xfrm>
            <a:off x="5943600" y="4331550"/>
            <a:ext cx="55986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Production : serveur 4 vCPU, 16 Go, 200 Go SSD, VPN inter-sites</a:t>
            </a:r>
            <a:endParaRPr lang="en-US" sz="1200" dirty="0"/>
          </a:p>
        </p:txBody>
      </p:sp>
      <p:sp>
        <p:nvSpPr>
          <p:cNvPr id="13" name="Text 1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MECHA IA — Soutenance MSPR TPRE822 · docs 03 et 04</a:t>
            </a:r>
            <a:endParaRPr lang="en-US" sz="1200" dirty="0"/>
          </a:p>
        </p:txBody>
      </p:sp>
      <p:sp>
        <p:nvSpPr>
          <p:cNvPr id="14" name="Text 11"/>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14 / 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80F"/>
                </a:solidFill>
                <a:latin typeface="IBM Plex Sans" pitchFamily="34" charset="0"/>
                <a:ea typeface="IBM Plex Sans" pitchFamily="34" charset="-122"/>
                <a:cs typeface="IBM Plex Sans" pitchFamily="34" charset="-120"/>
              </a:rPr>
              <a:t>14 · DÉPLOIEMENT DANS LES USINES</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Site par site, avec les équipes de maintenance</a:t>
            </a:r>
            <a:endParaRPr lang="en-US" sz="3200" dirty="0"/>
          </a:p>
        </p:txBody>
      </p:sp>
      <p:sp>
        <p:nvSpPr>
          <p:cNvPr id="4" name="Shape 2"/>
          <p:cNvSpPr/>
          <p:nvPr/>
        </p:nvSpPr>
        <p:spPr>
          <a:xfrm>
            <a:off x="812800" y="1854200"/>
            <a:ext cx="2559050" cy="1352127"/>
          </a:xfrm>
          <a:prstGeom prst="roundRect">
            <a:avLst>
              <a:gd name="adj" fmla="val 7514"/>
            </a:avLst>
          </a:prstGeom>
          <a:solidFill>
            <a:srgbClr val="14213D"/>
          </a:solidFill>
          <a:ln/>
        </p:spPr>
      </p:sp>
      <p:sp>
        <p:nvSpPr>
          <p:cNvPr id="5" name="Text 3"/>
          <p:cNvSpPr/>
          <p:nvPr/>
        </p:nvSpPr>
        <p:spPr>
          <a:xfrm>
            <a:off x="990600" y="2032000"/>
            <a:ext cx="226955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8892B"/>
                </a:solidFill>
                <a:latin typeface="JetBrains Mono" pitchFamily="49" charset="0"/>
                <a:ea typeface="JetBrains Mono" pitchFamily="49" charset="-122"/>
                <a:cs typeface="JetBrains Mono" pitchFamily="49" charset="-120"/>
              </a:rPr>
              <a:t>3 mois</a:t>
            </a:r>
            <a:endParaRPr lang="en-US" sz="1300" dirty="0"/>
          </a:p>
        </p:txBody>
      </p:sp>
      <p:sp>
        <p:nvSpPr>
          <p:cNvPr id="6" name="Text 4"/>
          <p:cNvSpPr/>
          <p:nvPr/>
        </p:nvSpPr>
        <p:spPr>
          <a:xfrm>
            <a:off x="990600" y="2313942"/>
            <a:ext cx="22695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5F1"/>
                </a:solidFill>
                <a:latin typeface="IBM Plex Sans" pitchFamily="34" charset="0"/>
                <a:ea typeface="IBM Plex Sans" pitchFamily="34" charset="-122"/>
                <a:cs typeface="IBM Plex Sans" pitchFamily="34" charset="-120"/>
              </a:rPr>
              <a:t>Pilote</a:t>
            </a:r>
            <a:endParaRPr lang="en-US" sz="1500" dirty="0"/>
          </a:p>
        </p:txBody>
      </p:sp>
      <p:sp>
        <p:nvSpPr>
          <p:cNvPr id="7" name="Text 5"/>
          <p:cNvSpPr/>
          <p:nvPr/>
        </p:nvSpPr>
        <p:spPr>
          <a:xfrm>
            <a:off x="990600" y="2593342"/>
            <a:ext cx="22695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C2D6"/>
                </a:solidFill>
                <a:latin typeface="IBM Plex Sans" pitchFamily="34" charset="0"/>
                <a:ea typeface="IBM Plex Sans" pitchFamily="34" charset="-122"/>
                <a:cs typeface="IBM Plex Sans" pitchFamily="34" charset="-120"/>
              </a:rPr>
              <a:t>1 site France, 3 machines, 5 techniciens volontaires</a:t>
            </a:r>
            <a:endParaRPr lang="en-US" sz="1200" dirty="0"/>
          </a:p>
        </p:txBody>
      </p:sp>
      <p:sp>
        <p:nvSpPr>
          <p:cNvPr id="8" name="Shape 6"/>
          <p:cNvSpPr/>
          <p:nvPr/>
        </p:nvSpPr>
        <p:spPr>
          <a:xfrm>
            <a:off x="3476625" y="1857375"/>
            <a:ext cx="2561167" cy="1345777"/>
          </a:xfrm>
          <a:prstGeom prst="roundRect">
            <a:avLst>
              <a:gd name="adj" fmla="val 7314"/>
            </a:avLst>
          </a:prstGeom>
          <a:solidFill>
            <a:srgbClr val="FDFCFA"/>
          </a:solidFill>
          <a:ln w="6350">
            <a:solidFill>
              <a:srgbClr val="E2DFD8"/>
            </a:solidFill>
            <a:prstDash val="solid"/>
          </a:ln>
        </p:spPr>
      </p:sp>
      <p:sp>
        <p:nvSpPr>
          <p:cNvPr id="9" name="Text 7"/>
          <p:cNvSpPr/>
          <p:nvPr/>
        </p:nvSpPr>
        <p:spPr>
          <a:xfrm>
            <a:off x="3655483" y="2036235"/>
            <a:ext cx="226955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80F"/>
                </a:solidFill>
                <a:latin typeface="JetBrains Mono" pitchFamily="49" charset="0"/>
                <a:ea typeface="JetBrains Mono" pitchFamily="49" charset="-122"/>
                <a:cs typeface="JetBrains Mono" pitchFamily="49" charset="-120"/>
              </a:rPr>
              <a:t>3 mois</a:t>
            </a:r>
            <a:endParaRPr lang="en-US" sz="1300" dirty="0"/>
          </a:p>
        </p:txBody>
      </p:sp>
      <p:sp>
        <p:nvSpPr>
          <p:cNvPr id="10" name="Text 8"/>
          <p:cNvSpPr/>
          <p:nvPr/>
        </p:nvSpPr>
        <p:spPr>
          <a:xfrm>
            <a:off x="3655483" y="2318172"/>
            <a:ext cx="22695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Extension</a:t>
            </a:r>
            <a:endParaRPr lang="en-US" sz="1500" dirty="0"/>
          </a:p>
        </p:txBody>
      </p:sp>
      <p:sp>
        <p:nvSpPr>
          <p:cNvPr id="11" name="Text 9"/>
          <p:cNvSpPr/>
          <p:nvPr/>
        </p:nvSpPr>
        <p:spPr>
          <a:xfrm>
            <a:off x="3655483" y="2597572"/>
            <a:ext cx="22695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556"/>
                </a:solidFill>
                <a:latin typeface="IBM Plex Sans" pitchFamily="34" charset="0"/>
                <a:ea typeface="IBM Plex Sans" pitchFamily="34" charset="-122"/>
                <a:cs typeface="IBM Plex Sans" pitchFamily="34" charset="-120"/>
              </a:rPr>
              <a:t>Toutes les machines du site pilote</a:t>
            </a:r>
            <a:endParaRPr lang="en-US" sz="1200" dirty="0"/>
          </a:p>
        </p:txBody>
      </p:sp>
      <p:sp>
        <p:nvSpPr>
          <p:cNvPr id="12" name="Shape 10"/>
          <p:cNvSpPr/>
          <p:nvPr/>
        </p:nvSpPr>
        <p:spPr>
          <a:xfrm>
            <a:off x="6145742" y="1857375"/>
            <a:ext cx="2561167" cy="1345777"/>
          </a:xfrm>
          <a:prstGeom prst="roundRect">
            <a:avLst>
              <a:gd name="adj" fmla="val 7314"/>
            </a:avLst>
          </a:prstGeom>
          <a:solidFill>
            <a:srgbClr val="FDFCFA"/>
          </a:solidFill>
          <a:ln w="6350">
            <a:solidFill>
              <a:srgbClr val="E2DFD8"/>
            </a:solidFill>
            <a:prstDash val="solid"/>
          </a:ln>
        </p:spPr>
      </p:sp>
      <p:sp>
        <p:nvSpPr>
          <p:cNvPr id="13" name="Text 11"/>
          <p:cNvSpPr/>
          <p:nvPr/>
        </p:nvSpPr>
        <p:spPr>
          <a:xfrm>
            <a:off x="6324600" y="2036235"/>
            <a:ext cx="226955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80F"/>
                </a:solidFill>
                <a:latin typeface="JetBrains Mono" pitchFamily="49" charset="0"/>
                <a:ea typeface="JetBrains Mono" pitchFamily="49" charset="-122"/>
                <a:cs typeface="JetBrains Mono" pitchFamily="49" charset="-120"/>
              </a:rPr>
              <a:t>6 mois</a:t>
            </a:r>
            <a:endParaRPr lang="en-US" sz="1300" dirty="0"/>
          </a:p>
        </p:txBody>
      </p:sp>
      <p:sp>
        <p:nvSpPr>
          <p:cNvPr id="14" name="Text 12"/>
          <p:cNvSpPr/>
          <p:nvPr/>
        </p:nvSpPr>
        <p:spPr>
          <a:xfrm>
            <a:off x="6324600" y="2318172"/>
            <a:ext cx="22695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France</a:t>
            </a:r>
            <a:endParaRPr lang="en-US" sz="1500" dirty="0"/>
          </a:p>
        </p:txBody>
      </p:sp>
      <p:sp>
        <p:nvSpPr>
          <p:cNvPr id="15" name="Text 13"/>
          <p:cNvSpPr/>
          <p:nvPr/>
        </p:nvSpPr>
        <p:spPr>
          <a:xfrm>
            <a:off x="6324600" y="2597572"/>
            <a:ext cx="22695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556"/>
                </a:solidFill>
                <a:latin typeface="IBM Plex Sans" pitchFamily="34" charset="0"/>
                <a:ea typeface="IBM Plex Sans" pitchFamily="34" charset="-122"/>
                <a:cs typeface="IBM Plex Sans" pitchFamily="34" charset="-120"/>
              </a:rPr>
              <a:t>Les 2 autres sites français</a:t>
            </a:r>
            <a:endParaRPr lang="en-US" sz="1200" dirty="0"/>
          </a:p>
        </p:txBody>
      </p:sp>
      <p:sp>
        <p:nvSpPr>
          <p:cNvPr id="16" name="Shape 14"/>
          <p:cNvSpPr/>
          <p:nvPr/>
        </p:nvSpPr>
        <p:spPr>
          <a:xfrm>
            <a:off x="8814858" y="1857375"/>
            <a:ext cx="2561167" cy="1345777"/>
          </a:xfrm>
          <a:prstGeom prst="roundRect">
            <a:avLst>
              <a:gd name="adj" fmla="val 7314"/>
            </a:avLst>
          </a:prstGeom>
          <a:solidFill>
            <a:srgbClr val="FDFCFA"/>
          </a:solidFill>
          <a:ln w="6350">
            <a:solidFill>
              <a:srgbClr val="E2DFD8"/>
            </a:solidFill>
            <a:prstDash val="solid"/>
          </a:ln>
        </p:spPr>
      </p:sp>
      <p:sp>
        <p:nvSpPr>
          <p:cNvPr id="17" name="Text 15"/>
          <p:cNvSpPr/>
          <p:nvPr/>
        </p:nvSpPr>
        <p:spPr>
          <a:xfrm>
            <a:off x="8993717" y="2036235"/>
            <a:ext cx="2269554"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80F"/>
                </a:solidFill>
                <a:latin typeface="JetBrains Mono" pitchFamily="49" charset="0"/>
                <a:ea typeface="JetBrains Mono" pitchFamily="49" charset="-122"/>
                <a:cs typeface="JetBrains Mono" pitchFamily="49" charset="-120"/>
              </a:rPr>
              <a:t>6 mois</a:t>
            </a:r>
            <a:endParaRPr lang="en-US" sz="1300" dirty="0"/>
          </a:p>
        </p:txBody>
      </p:sp>
      <p:sp>
        <p:nvSpPr>
          <p:cNvPr id="18" name="Text 16"/>
          <p:cNvSpPr/>
          <p:nvPr/>
        </p:nvSpPr>
        <p:spPr>
          <a:xfrm>
            <a:off x="8993717" y="2318172"/>
            <a:ext cx="226955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Espagne</a:t>
            </a:r>
            <a:endParaRPr lang="en-US" sz="1500" dirty="0"/>
          </a:p>
        </p:txBody>
      </p:sp>
      <p:sp>
        <p:nvSpPr>
          <p:cNvPr id="19" name="Text 17"/>
          <p:cNvSpPr/>
          <p:nvPr/>
        </p:nvSpPr>
        <p:spPr>
          <a:xfrm>
            <a:off x="8993717" y="2597572"/>
            <a:ext cx="22695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B4556"/>
                </a:solidFill>
                <a:latin typeface="IBM Plex Sans" pitchFamily="34" charset="0"/>
                <a:ea typeface="IBM Plex Sans" pitchFamily="34" charset="-122"/>
                <a:cs typeface="IBM Plex Sans" pitchFamily="34" charset="-120"/>
              </a:rPr>
              <a:t>2 sites, après équipement IoT complet</a:t>
            </a:r>
            <a:endParaRPr lang="en-US" sz="1200" dirty="0"/>
          </a:p>
        </p:txBody>
      </p:sp>
      <p:sp>
        <p:nvSpPr>
          <p:cNvPr id="20" name="Text 18"/>
          <p:cNvSpPr/>
          <p:nvPr/>
        </p:nvSpPr>
        <p:spPr>
          <a:xfrm>
            <a:off x="812800" y="3511128"/>
            <a:ext cx="528472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Conduite du changement</a:t>
            </a:r>
            <a:endParaRPr lang="en-US" sz="1500" dirty="0"/>
          </a:p>
        </p:txBody>
      </p:sp>
      <p:sp>
        <p:nvSpPr>
          <p:cNvPr id="21" name="Text 19"/>
          <p:cNvSpPr/>
          <p:nvPr/>
        </p:nvSpPr>
        <p:spPr>
          <a:xfrm>
            <a:off x="898144" y="3815928"/>
            <a:ext cx="5191760" cy="743585"/>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 L’IA vous fait gagner du temps, elle ne vous remplace pas »</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CSE consulté en amont, engagement écrit de non-usage RH</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Formation : 1 jour responsables, 2 × 2 h techniciens</a:t>
            </a:r>
            <a:endParaRPr lang="en-US" sz="1300" dirty="0"/>
          </a:p>
        </p:txBody>
      </p:sp>
      <p:sp>
        <p:nvSpPr>
          <p:cNvPr id="22" name="Text 20"/>
          <p:cNvSpPr/>
          <p:nvPr/>
        </p:nvSpPr>
        <p:spPr>
          <a:xfrm>
            <a:off x="6248400" y="3511128"/>
            <a:ext cx="528472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Ce qu’on suit</a:t>
            </a:r>
            <a:endParaRPr lang="en-US" sz="1500" dirty="0"/>
          </a:p>
        </p:txBody>
      </p:sp>
      <p:sp>
        <p:nvSpPr>
          <p:cNvPr id="23" name="Text 21"/>
          <p:cNvSpPr/>
          <p:nvPr/>
        </p:nvSpPr>
        <p:spPr>
          <a:xfrm>
            <a:off x="6333744" y="3815928"/>
            <a:ext cx="5191760" cy="743585"/>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Part des alertes traitées avec retour terrain</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Rappel en production : réentraînement s’il passe sous 80 %</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Évolution des arrêts non planifiés</a:t>
            </a:r>
            <a:endParaRPr lang="en-US" sz="1300" dirty="0"/>
          </a:p>
        </p:txBody>
      </p:sp>
      <p:sp>
        <p:nvSpPr>
          <p:cNvPr id="24" name="Text 2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MECHA IA — Soutenance MSPR TPRE822 · docs 01 et 04</a:t>
            </a:r>
            <a:endParaRPr lang="en-US" sz="1200" dirty="0"/>
          </a:p>
        </p:txBody>
      </p:sp>
      <p:sp>
        <p:nvSpPr>
          <p:cNvPr id="25" name="Text 2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15 / 17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80F"/>
                </a:solidFill>
                <a:latin typeface="IBM Plex Sans" pitchFamily="34" charset="0"/>
                <a:ea typeface="IBM Plex Sans" pitchFamily="34" charset="-122"/>
                <a:cs typeface="IBM Plex Sans" pitchFamily="34" charset="-120"/>
              </a:rPr>
              <a:t>15 · LIMITES ET SUITES</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3D"/>
                </a:solidFill>
                <a:latin typeface="IBM Plex Sans" pitchFamily="34" charset="0"/>
                <a:ea typeface="IBM Plex Sans" pitchFamily="34" charset="-122"/>
                <a:cs typeface="IBM Plex Sans" pitchFamily="34" charset="-120"/>
              </a:rPr>
              <a:t>Ce que le prototype ne prouve pas encore</a:t>
            </a:r>
            <a:endParaRPr lang="en-US" sz="3200" dirty="0"/>
          </a:p>
        </p:txBody>
      </p:sp>
      <p:sp>
        <p:nvSpPr>
          <p:cNvPr id="4" name="Shape 2"/>
          <p:cNvSpPr/>
          <p:nvPr/>
        </p:nvSpPr>
        <p:spPr>
          <a:xfrm>
            <a:off x="815975" y="1857375"/>
            <a:ext cx="5124450" cy="2719917"/>
          </a:xfrm>
          <a:prstGeom prst="roundRect">
            <a:avLst>
              <a:gd name="adj" fmla="val 3619"/>
            </a:avLst>
          </a:prstGeom>
          <a:solidFill>
            <a:srgbClr val="FDFCFA"/>
          </a:solidFill>
          <a:ln w="6350">
            <a:solidFill>
              <a:srgbClr val="E2DFD8"/>
            </a:solidFill>
            <a:prstDash val="solid"/>
          </a:ln>
        </p:spPr>
      </p:sp>
      <p:sp>
        <p:nvSpPr>
          <p:cNvPr id="5" name="Text 3"/>
          <p:cNvSpPr/>
          <p:nvPr/>
        </p:nvSpPr>
        <p:spPr>
          <a:xfrm>
            <a:off x="1045633" y="2087029"/>
            <a:ext cx="480508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Limites assumées</a:t>
            </a:r>
            <a:endParaRPr lang="en-US" sz="1600" dirty="0"/>
          </a:p>
        </p:txBody>
      </p:sp>
      <p:sp>
        <p:nvSpPr>
          <p:cNvPr id="6" name="Text 4"/>
          <p:cNvSpPr/>
          <p:nvPr/>
        </p:nvSpPr>
        <p:spPr>
          <a:xfrm>
            <a:off x="1130977" y="2432472"/>
            <a:ext cx="4712123" cy="1940560"/>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Données synthétiques : la méthode est validée, pas la performance réelle</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2 alertes « à risque » sur 3 sont fausses</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Erreur du RUL (~20 h) supérieure au seuil critique (4 h) : l’inspection humaine tranche</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Ni valeurs manquantes ni historique de maintenance simulés</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Pas de notification mail ni d’acquittement dans l’interface</a:t>
            </a:r>
            <a:endParaRPr lang="en-US" sz="1300" dirty="0"/>
          </a:p>
        </p:txBody>
      </p:sp>
      <p:sp>
        <p:nvSpPr>
          <p:cNvPr id="7" name="Shape 5"/>
          <p:cNvSpPr/>
          <p:nvPr/>
        </p:nvSpPr>
        <p:spPr>
          <a:xfrm>
            <a:off x="6251575" y="1857375"/>
            <a:ext cx="5124450" cy="2719917"/>
          </a:xfrm>
          <a:prstGeom prst="roundRect">
            <a:avLst>
              <a:gd name="adj" fmla="val 3619"/>
            </a:avLst>
          </a:prstGeom>
          <a:solidFill>
            <a:srgbClr val="FDFCFA"/>
          </a:solidFill>
          <a:ln w="6350">
            <a:solidFill>
              <a:srgbClr val="E2DFD8"/>
            </a:solidFill>
            <a:prstDash val="solid"/>
          </a:ln>
        </p:spPr>
      </p:sp>
      <p:sp>
        <p:nvSpPr>
          <p:cNvPr id="8" name="Text 6"/>
          <p:cNvSpPr/>
          <p:nvPr/>
        </p:nvSpPr>
        <p:spPr>
          <a:xfrm>
            <a:off x="6481233" y="2087029"/>
            <a:ext cx="480508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Prochaines étapes</a:t>
            </a:r>
            <a:endParaRPr lang="en-US" sz="1600" dirty="0"/>
          </a:p>
        </p:txBody>
      </p:sp>
      <p:sp>
        <p:nvSpPr>
          <p:cNvPr id="9" name="Text 7"/>
          <p:cNvSpPr/>
          <p:nvPr/>
        </p:nvSpPr>
        <p:spPr>
          <a:xfrm>
            <a:off x="6566577" y="2432472"/>
            <a:ext cx="4712123" cy="1461770"/>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Relancer sur CMAPSS, puis sur données réelles anonymisées d’un site</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Vrais labels de panne issus de la GMAO</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Optimisation des hyperparamètres</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Notifications et saisie des retours terrain</a:t>
            </a:r>
            <a:endParaRPr lang="en-US" sz="1300" dirty="0"/>
          </a:p>
          <a:p>
            <a:pPr algn="l" marL="168656" indent="-168656">
              <a:lnSpc>
                <a:spcPts val="1885"/>
              </a:lnSpc>
              <a:buSzPct val="100000"/>
              <a:buChar char="•"/>
            </a:pPr>
            <a:r>
              <a:rPr lang="en-US" sz="1300" dirty="0">
                <a:solidFill>
                  <a:srgbClr val="3B4556"/>
                </a:solidFill>
                <a:latin typeface="IBM Plex Sans" pitchFamily="34" charset="0"/>
                <a:ea typeface="IBM Plex Sans" pitchFamily="34" charset="-122"/>
                <a:cs typeface="IBM Plex Sans" pitchFamily="34" charset="-120"/>
              </a:rPr>
              <a:t>Suivi des modèles avec MLflow</a:t>
            </a:r>
            <a:endParaRPr lang="en-US" sz="1300" dirty="0"/>
          </a:p>
        </p:txBody>
      </p:sp>
      <p:sp>
        <p:nvSpPr>
          <p:cNvPr id="10" name="Text 8"/>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MECHA IA — Soutenance MSPR TPRE822 · docs 02 et 04</a:t>
            </a:r>
            <a:endParaRPr lang="en-US" sz="1200" dirty="0"/>
          </a:p>
        </p:txBody>
      </p:sp>
      <p:sp>
        <p:nvSpPr>
          <p:cNvPr id="11"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5"/>
                </a:solidFill>
                <a:latin typeface="IBM Plex Sans" pitchFamily="34" charset="0"/>
                <a:ea typeface="IBM Plex Sans" pitchFamily="34" charset="-122"/>
                <a:cs typeface="IBM Plex Sans" pitchFamily="34" charset="-120"/>
              </a:rPr>
              <a:t>16 / 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8892B"/>
          </a:solidFill>
          <a:ln/>
        </p:spPr>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892B"/>
                </a:solidFill>
                <a:latin typeface="IBM Plex Sans" pitchFamily="34" charset="0"/>
                <a:ea typeface="IBM Plex Sans" pitchFamily="34" charset="-122"/>
                <a:cs typeface="IBM Plex Sans" pitchFamily="34" charset="-120"/>
              </a:rPr>
              <a:t>CONCLUSION</a:t>
            </a:r>
            <a:endParaRPr lang="en-US" sz="1200" dirty="0"/>
          </a:p>
        </p:txBody>
      </p:sp>
      <p:sp>
        <p:nvSpPr>
          <p:cNvPr id="4" name="Text 2"/>
          <p:cNvSpPr/>
          <p:nvPr>
            <p:ph type="title"/>
          </p:nvPr>
        </p:nvSpPr>
        <p:spPr>
          <a:xfrm>
            <a:off x="812800" y="11023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5F1"/>
                </a:solidFill>
                <a:latin typeface="IBM Plex Sans" pitchFamily="34" charset="0"/>
                <a:ea typeface="IBM Plex Sans" pitchFamily="34" charset="-122"/>
                <a:cs typeface="IBM Plex Sans" pitchFamily="34" charset="-120"/>
              </a:rPr>
              <a:t>Ce que démontre le prototype</a:t>
            </a:r>
            <a:endParaRPr lang="en-US" sz="3600" dirty="0"/>
          </a:p>
        </p:txBody>
      </p:sp>
      <p:sp>
        <p:nvSpPr>
          <p:cNvPr id="5" name="Shape 3"/>
          <p:cNvSpPr/>
          <p:nvPr/>
        </p:nvSpPr>
        <p:spPr>
          <a:xfrm>
            <a:off x="812800" y="3114042"/>
            <a:ext cx="3318933" cy="0"/>
          </a:xfrm>
          <a:prstGeom prst="line">
            <a:avLst/>
          </a:prstGeom>
          <a:noFill/>
          <a:ln w="25400">
            <a:solidFill>
              <a:srgbClr val="E8892B"/>
            </a:solidFill>
            <a:prstDash val="solid"/>
          </a:ln>
        </p:spPr>
      </p:sp>
      <p:sp>
        <p:nvSpPr>
          <p:cNvPr id="6" name="Text 4"/>
          <p:cNvSpPr/>
          <p:nvPr/>
        </p:nvSpPr>
        <p:spPr>
          <a:xfrm>
            <a:off x="812800" y="3279142"/>
            <a:ext cx="341850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5F1"/>
                </a:solidFill>
                <a:latin typeface="IBM Plex Sans" pitchFamily="34" charset="0"/>
                <a:ea typeface="IBM Plex Sans" pitchFamily="34" charset="-122"/>
                <a:cs typeface="IBM Plex Sans" pitchFamily="34" charset="-120"/>
              </a:rPr>
              <a:t>Faisable</a:t>
            </a:r>
            <a:endParaRPr lang="en-US" sz="2000" dirty="0"/>
          </a:p>
        </p:txBody>
      </p:sp>
      <p:sp>
        <p:nvSpPr>
          <p:cNvPr id="7" name="Text 5"/>
          <p:cNvSpPr/>
          <p:nvPr/>
        </p:nvSpPr>
        <p:spPr>
          <a:xfrm>
            <a:off x="812800" y="3660142"/>
            <a:ext cx="341850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2D6"/>
                </a:solidFill>
                <a:latin typeface="IBM Plex Sans" pitchFamily="34" charset="0"/>
                <a:ea typeface="IBM Plex Sans" pitchFamily="34" charset="-122"/>
                <a:cs typeface="IBM Plex Sans" pitchFamily="34" charset="-120"/>
              </a:rPr>
              <a:t>Une chaîne complète, du capteur à l’alerte, conteneurisée et testée</a:t>
            </a:r>
            <a:endParaRPr lang="en-US" sz="1400" dirty="0"/>
          </a:p>
        </p:txBody>
      </p:sp>
      <p:sp>
        <p:nvSpPr>
          <p:cNvPr id="8" name="Shape 6"/>
          <p:cNvSpPr/>
          <p:nvPr/>
        </p:nvSpPr>
        <p:spPr>
          <a:xfrm>
            <a:off x="4436533" y="3114042"/>
            <a:ext cx="3318933" cy="0"/>
          </a:xfrm>
          <a:prstGeom prst="line">
            <a:avLst/>
          </a:prstGeom>
          <a:noFill/>
          <a:ln w="25400">
            <a:solidFill>
              <a:srgbClr val="E8892B"/>
            </a:solidFill>
            <a:prstDash val="solid"/>
          </a:ln>
        </p:spPr>
      </p:sp>
      <p:sp>
        <p:nvSpPr>
          <p:cNvPr id="9" name="Text 7"/>
          <p:cNvSpPr/>
          <p:nvPr/>
        </p:nvSpPr>
        <p:spPr>
          <a:xfrm>
            <a:off x="4436533" y="3279142"/>
            <a:ext cx="341850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5F1"/>
                </a:solidFill>
                <a:latin typeface="IBM Plex Sans" pitchFamily="34" charset="0"/>
                <a:ea typeface="IBM Plex Sans" pitchFamily="34" charset="-122"/>
                <a:cs typeface="IBM Plex Sans" pitchFamily="34" charset="-120"/>
              </a:rPr>
              <a:t>Utile</a:t>
            </a:r>
            <a:endParaRPr lang="en-US" sz="2000" dirty="0"/>
          </a:p>
        </p:txBody>
      </p:sp>
      <p:sp>
        <p:nvSpPr>
          <p:cNvPr id="10" name="Text 8"/>
          <p:cNvSpPr/>
          <p:nvPr/>
        </p:nvSpPr>
        <p:spPr>
          <a:xfrm>
            <a:off x="4436533" y="3660142"/>
            <a:ext cx="341850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2D6"/>
                </a:solidFill>
                <a:latin typeface="IBM Plex Sans" pitchFamily="34" charset="0"/>
                <a:ea typeface="IBM Plex Sans" pitchFamily="34" charset="-122"/>
                <a:cs typeface="IBM Plex Sans" pitchFamily="34" charset="-120"/>
              </a:rPr>
              <a:t>87 % des pannes anticipées pour 9 % de faux positifs</a:t>
            </a:r>
            <a:endParaRPr lang="en-US" sz="1400" dirty="0"/>
          </a:p>
        </p:txBody>
      </p:sp>
      <p:sp>
        <p:nvSpPr>
          <p:cNvPr id="11" name="Shape 9"/>
          <p:cNvSpPr/>
          <p:nvPr/>
        </p:nvSpPr>
        <p:spPr>
          <a:xfrm>
            <a:off x="8060267" y="3114042"/>
            <a:ext cx="3318933" cy="0"/>
          </a:xfrm>
          <a:prstGeom prst="line">
            <a:avLst/>
          </a:prstGeom>
          <a:noFill/>
          <a:ln w="25400">
            <a:solidFill>
              <a:srgbClr val="E8892B"/>
            </a:solidFill>
            <a:prstDash val="solid"/>
          </a:ln>
        </p:spPr>
      </p:sp>
      <p:sp>
        <p:nvSpPr>
          <p:cNvPr id="12" name="Text 10"/>
          <p:cNvSpPr/>
          <p:nvPr/>
        </p:nvSpPr>
        <p:spPr>
          <a:xfrm>
            <a:off x="8060267" y="3279142"/>
            <a:ext cx="341850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5F1"/>
                </a:solidFill>
                <a:latin typeface="IBM Plex Sans" pitchFamily="34" charset="0"/>
                <a:ea typeface="IBM Plex Sans" pitchFamily="34" charset="-122"/>
                <a:cs typeface="IBM Plex Sans" pitchFamily="34" charset="-120"/>
              </a:rPr>
              <a:t>Prêt pour un pilote</a:t>
            </a:r>
            <a:endParaRPr lang="en-US" sz="2000" dirty="0"/>
          </a:p>
        </p:txBody>
      </p:sp>
      <p:sp>
        <p:nvSpPr>
          <p:cNvPr id="13" name="Text 11"/>
          <p:cNvSpPr/>
          <p:nvPr/>
        </p:nvSpPr>
        <p:spPr>
          <a:xfrm>
            <a:off x="8060267" y="3660142"/>
            <a:ext cx="341850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2D6"/>
                </a:solidFill>
                <a:latin typeface="IBM Plex Sans" pitchFamily="34" charset="0"/>
                <a:ea typeface="IBM Plex Sans" pitchFamily="34" charset="-122"/>
                <a:cs typeface="IBM Plex Sans" pitchFamily="34" charset="-120"/>
              </a:rPr>
              <a:t>Sur données réelles : 1 site, 3 machines, 3 mois</a:t>
            </a:r>
            <a:endParaRPr lang="en-US" sz="1400" dirty="0"/>
          </a:p>
        </p:txBody>
      </p:sp>
      <p:sp>
        <p:nvSpPr>
          <p:cNvPr id="14" name="Text 12"/>
          <p:cNvSpPr/>
          <p:nvPr/>
        </p:nvSpPr>
        <p:spPr>
          <a:xfrm>
            <a:off x="812800" y="5654042"/>
            <a:ext cx="1088339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8892B"/>
                </a:solidFill>
                <a:latin typeface="IBM Plex Sans" pitchFamily="34" charset="0"/>
                <a:ea typeface="IBM Plex Sans" pitchFamily="34" charset="-122"/>
                <a:cs typeface="IBM Plex Sans" pitchFamily="34" charset="-120"/>
              </a:rPr>
              <a:t>Merci — place à vos questions</a:t>
            </a:r>
            <a:endParaRPr lang="en-US" sz="2200" dirty="0"/>
          </a:p>
        </p:txBody>
      </p:sp>
    </p:spTree>
  </p:cSld>
  <p:clrMapOvr>
    <a:masterClrMapping/>
  </p:clrMapOvr>
</p:sld>
</file>

<file path=ppt/theme/theme1.xml><?xml version="1.0" encoding="utf-8"?>
<a:theme xmlns:a="http://schemas.openxmlformats.org/drawingml/2006/main" name="Soutenance MECHA IA">
  <a:themeElements>
    <a:clrScheme name="Soutenance MECHA IA">
      <a:dk1>
        <a:srgbClr val="14213D"/>
      </a:dk1>
      <a:lt1>
        <a:srgbClr val="F6F5F1"/>
      </a:lt1>
      <a:dk2>
        <a:srgbClr val="4D566A"/>
      </a:dk2>
      <a:lt2>
        <a:srgbClr val="DFE0DF"/>
      </a:lt2>
      <a:accent1>
        <a:srgbClr val="B4580F"/>
      </a:accent1>
      <a:accent2>
        <a:srgbClr val="E8892B"/>
      </a:accent2>
      <a:accent3>
        <a:srgbClr val="2F6FBF"/>
      </a:accent3>
      <a:accent4>
        <a:srgbClr val="1F5C45"/>
      </a:accent4>
      <a:accent5>
        <a:srgbClr val="8A430B"/>
      </a:accent5>
      <a:accent6>
        <a:srgbClr val="1F4685"/>
      </a:accent6>
      <a:hlink>
        <a:srgbClr val="0563C1"/>
      </a:hlink>
      <a:folHlink>
        <a:srgbClr val="954F72"/>
      </a:folHlink>
    </a:clrScheme>
    <a:fontScheme name="Soutenance MECHA IA">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MECHA IA</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2026-10-27T10:34:58Z</dcterms:created>
  <dcterms:modified xsi:type="dcterms:W3CDTF">2026-10-27T10:34:58Z</dcterms:modified>
</cp:coreProperties>
</file>